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Barlow"/>
      <p:regular r:id="rId36"/>
      <p:bold r:id="rId37"/>
      <p:italic r:id="rId38"/>
      <p:boldItalic r:id="rId39"/>
    </p:embeddedFont>
    <p:embeddedFont>
      <p:font typeface="DM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429D0-432C-4C25-A34E-7CA050955F23}">
  <a:tblStyle styleId="{773429D0-432C-4C25-A34E-7CA050955F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regular.fntdata"/><Relationship Id="rId20" Type="http://schemas.openxmlformats.org/officeDocument/2006/relationships/slide" Target="slides/slide14.xml"/><Relationship Id="rId42" Type="http://schemas.openxmlformats.org/officeDocument/2006/relationships/font" Target="fonts/DMSans-italic.fntdata"/><Relationship Id="rId41" Type="http://schemas.openxmlformats.org/officeDocument/2006/relationships/font" Target="fonts/DM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DM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Barlow-bold.fntdata"/><Relationship Id="rId14" Type="http://schemas.openxmlformats.org/officeDocument/2006/relationships/slide" Target="slides/slide8.xml"/><Relationship Id="rId36" Type="http://schemas.openxmlformats.org/officeDocument/2006/relationships/font" Target="fonts/Barlow-regular.fntdata"/><Relationship Id="rId17" Type="http://schemas.openxmlformats.org/officeDocument/2006/relationships/slide" Target="slides/slide11.xml"/><Relationship Id="rId39" Type="http://schemas.openxmlformats.org/officeDocument/2006/relationships/font" Target="fonts/Barlow-boldItalic.fntdata"/><Relationship Id="rId16" Type="http://schemas.openxmlformats.org/officeDocument/2006/relationships/slide" Target="slides/slide10.xml"/><Relationship Id="rId38" Type="http://schemas.openxmlformats.org/officeDocument/2006/relationships/font" Target="fonts/Barlow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evm-ai-gateway-deepdive.cloud.databricks.com/jobs/622026494401287?w=7474647630497631" TargetMode="External"/><Relationship Id="rId3" Type="http://schemas.openxmlformats.org/officeDocument/2006/relationships/hyperlink" Target="https://ai-gateway-deepdive-7474647630497631.aws.databricksapps.com" TargetMode="External"/><Relationship Id="rId4" Type="http://schemas.openxmlformats.org/officeDocument/2006/relationships/hyperlink" Target="https://fevm-ai-gateway-deepdive.cloud.databricks.com/dashboardsv3/01f19ce05f241e8e9d7ffc89942eb25a/published?w=7474647630497631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evm-ai-gateway-deepdive.cloud.databricks.com/editor/notebooks/3935504931480728?o=7474647630497631" TargetMode="External"/><Relationship Id="rId3" Type="http://schemas.openxmlformats.org/officeDocument/2006/relationships/hyperlink" Target="https://docs.databricks.com/aws/en/security/auth/access-control" TargetMode="External"/><Relationship Id="rId4" Type="http://schemas.openxmlformats.org/officeDocument/2006/relationships/hyperlink" Target="https://docs.databricks.com/aws/en/ai-gateway/govern-model-services" TargetMode="External"/><Relationship Id="rId5" Type="http://schemas.openxmlformats.org/officeDocument/2006/relationships/hyperlink" Target="https://docs.databricks.com/aws/en/machine-learning/foundation-model-apis/model-uc-permissions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evm-ai-gateway-deepdive.cloud.databricks.com/editor/notebooks/3935504931480727?o=7474647630497631" TargetMode="External"/><Relationship Id="rId3" Type="http://schemas.openxmlformats.org/officeDocument/2006/relationships/hyperlink" Target="https://docs.databricks.com/aws/en/ai-gateway/rate-limits" TargetMode="External"/><Relationship Id="rId4" Type="http://schemas.openxmlformats.org/officeDocument/2006/relationships/hyperlink" Target="https://docs.databricks.com/aws/en/ai-gateway/configure-traffic-splitting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evm-ai-gateway-deepdive.cloud.databricks.com/editor/notebooks/3935504931480731?o=7474647630497631" TargetMode="External"/><Relationship Id="rId3" Type="http://schemas.openxmlformats.org/officeDocument/2006/relationships/hyperlink" Target="https://docs.databricks.com/aws/en/data-governance/unity-catalog/service-policies" TargetMode="External"/><Relationship Id="rId4" Type="http://schemas.openxmlformats.org/officeDocument/2006/relationships/hyperlink" Target="https://docs.databricks.com/aws/en/data-governance/unity-catalog/service-policies/create-service-policy" TargetMode="External"/><Relationship Id="rId5" Type="http://schemas.openxmlformats.org/officeDocument/2006/relationships/hyperlink" Target="https://docs.databricks.com/aws/en/data-governance/unity-catalog/service-policies/detect-sensitive-data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evm-ai-gateway-deepdive.cloud.databricks.com/editor/notebooks/3935504931480729?o=7474647630497631" TargetMode="External"/><Relationship Id="rId3" Type="http://schemas.openxmlformats.org/officeDocument/2006/relationships/hyperlink" Target="https://docs.databricks.com/aws/en/admin/system-tables/billing" TargetMode="External"/><Relationship Id="rId4" Type="http://schemas.openxmlformats.org/officeDocument/2006/relationships/hyperlink" Target="https://docs.databricks.com/aws/en/admin/account-settings/budgets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evm-ai-gateway-deepdive.cloud.databricks.com/editor/notebooks/3935504931480730?o=7474647630497631" TargetMode="External"/><Relationship Id="rId3" Type="http://schemas.openxmlformats.org/officeDocument/2006/relationships/hyperlink" Target="https://fevm-ai-gateway-deepdive.cloud.databricks.com/ml/endpoints/ai-gateway-deepdive?o=7474647630497631" TargetMode="External"/><Relationship Id="rId4" Type="http://schemas.openxmlformats.org/officeDocument/2006/relationships/hyperlink" Target="https://fevm-ai-gateway-deepdive.cloud.databricks.com/explore/model-services/ai_gateway_deepdive_catalog/core/aigw_demo_service?o=7474647630497631" TargetMode="External"/><Relationship Id="rId5" Type="http://schemas.openxmlformats.org/officeDocument/2006/relationships/hyperlink" Target="https://docs.databricks.com/aws/en/ai-gateway/configure-ai-gateway-endpoints" TargetMode="External"/><Relationship Id="rId6" Type="http://schemas.openxmlformats.org/officeDocument/2006/relationships/hyperlink" Target="https://docs.databricks.com/aws/en/ai-gateway/model-services" TargetMode="External"/><Relationship Id="rId7" Type="http://schemas.openxmlformats.org/officeDocument/2006/relationships/hyperlink" Target="https://docs.databricks.com/aws/en/ai-gateway/govern-model-services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databricks.com/aws/en/ai-gateway/ai-governance" TargetMode="External"/><Relationship Id="rId3" Type="http://schemas.openxmlformats.org/officeDocument/2006/relationships/hyperlink" Target="https://docs.databricks.com/aws/en/ai-gateway/moderate-tutorial" TargetMode="External"/><Relationship Id="rId4" Type="http://schemas.openxmlformats.org/officeDocument/2006/relationships/hyperlink" Target="https://docs.databricks.com/aws/en/admin/account-settings/budgets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databricks.com/aws/en/security/auth/access-control" TargetMode="External"/><Relationship Id="rId3" Type="http://schemas.openxmlformats.org/officeDocument/2006/relationships/hyperlink" Target="https://docs.databricks.com/aws/en/ai-gateway/govern-model-services" TargetMode="External"/><Relationship Id="rId4" Type="http://schemas.openxmlformats.org/officeDocument/2006/relationships/hyperlink" Target="https://docs.databricks.com/aws/en/data-governance/unity-catalog/access-control/privileges-reference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databricks.com/aws/en/data-governance/unity-catalog/access-control/privileges-reference" TargetMode="External"/><Relationship Id="rId3" Type="http://schemas.openxmlformats.org/officeDocument/2006/relationships/hyperlink" Target="https://docs.databricks.com/aws/en/ai-gateway/govern-model-services" TargetMode="External"/><Relationship Id="rId4" Type="http://schemas.openxmlformats.org/officeDocument/2006/relationships/hyperlink" Target="https://docs.databricks.com/aws/en/security/auth/access-control" TargetMode="External"/><Relationship Id="rId5" Type="http://schemas.openxmlformats.org/officeDocument/2006/relationships/hyperlink" Target="https://docs.databricks.com/aws/en/admin/account-settings/budgets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databricks.com/aws/en/security/auth/access-control" TargetMode="External"/><Relationship Id="rId3" Type="http://schemas.openxmlformats.org/officeDocument/2006/relationships/hyperlink" Target="https://docs.databricks.com/aws/en/data-governance/unity-catalog/access-control/privileges-reference" TargetMode="External"/><Relationship Id="rId4" Type="http://schemas.openxmlformats.org/officeDocument/2006/relationships/hyperlink" Target="https://docs.databricks.com/aws/en/ai-gateway/govern-model-services" TargetMode="External"/><Relationship Id="rId5" Type="http://schemas.openxmlformats.org/officeDocument/2006/relationships/hyperlink" Target="https://docs.databricks.com/aws/en/machine-learning/foundation-model-apis/model-uc-permissions" TargetMode="External"/><Relationship Id="rId6" Type="http://schemas.openxmlformats.org/officeDocument/2006/relationships/hyperlink" Target="https://docs.databricks.com/aws/en/ai-gateway/govern-model-provider-services" TargetMode="External"/><Relationship Id="rId7" Type="http://schemas.openxmlformats.org/officeDocument/2006/relationships/hyperlink" Target="https://docs.databricks.com/aws/en/ai-gateway/rate-limits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databricks.com/aws/en/security/auth/access-control" TargetMode="External"/><Relationship Id="rId3" Type="http://schemas.openxmlformats.org/officeDocument/2006/relationships/hyperlink" Target="https://docs.databricks.com/aws/en/ai-gateway/govern-model-services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i-gateway-deepdive-7474647630497631.aws.databricksapps.com" TargetMode="External"/><Relationship Id="rId3" Type="http://schemas.openxmlformats.org/officeDocument/2006/relationships/hyperlink" Target="https://fevm-ai-gateway-deepdive.cloud.databricks.com/dashboardsv3/01f19ce05f241e8e9d7ffc89942eb25a/published?w=7474647630497631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obj_a8a2f0c341ec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obj_a8a2f0c341ec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setup (do first): reconnect VPN (workspace IP ACL), then run the smoke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Entry points: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Notebooks folder: /Workspace/Users/erik.nor@databricks.com/.bundle/ai-gateway-deepdive/dev/files/notebooks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Setup job (rebuild):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https://fevm-ai-gateway-deepdive.cloud.databricks.com/jobs/622026494401287?w=7474647630497631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Streamlit App: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https://ai-gateway-deepdive-7474647630497631.aws.databricksapps.com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AI/BI dashboard: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https://fevm-ai-gateway-deepdive.cloud.databricks.com/dashboardsv3/01f19ce05f241e8e9d7ffc89942eb25a/published?w=7474647630497631</a:t>
            </a:r>
            <a:endParaRPr/>
          </a:p>
        </p:txBody>
      </p:sp>
      <p:sp>
        <p:nvSpPr>
          <p:cNvPr id="148" name="Google Shape;148;obj_a8a2f0c341ec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obj_5f713a4c458d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obj_5f713a4c458d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obj_5f713a4c458d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obj_8df002433f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obj_8df002433f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"Your platform team" is a persona, not one admin tier. Account admin </a:t>
            </a:r>
            <a:r>
              <a:rPr lang="en-US"/>
              <a:t>enables the Unity AI Gateway Beta capabilities (service policies, via account Previews) + owns metastore assignment</a:t>
            </a:r>
            <a:r>
              <a:rPr lang="en-US"/>
              <a:t>, identity/IdP, and account budgets; workspace admin runs the Model Serving endpoint + AI Gateway config; a catalog/schema owner (granted CREATE SERVICE / MANAGE) runs the UC model services. Most operational duties are delegable via UC grants and endpoint ACLs. See the "Permissions, Defaults, and Delegation" slide.</a:t>
            </a:r>
            <a:endParaRPr/>
          </a:p>
        </p:txBody>
      </p:sp>
      <p:sp>
        <p:nvSpPr>
          <p:cNvPr id="162" name="Google Shape;162;obj_8df002433f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obj_0ba61cff0f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obj_0ba61cff0f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obj_0ba61cff0f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obj_b0c792bebd0d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obj_b0c792bebd0d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 slide -- external providers are not demonstrated in this environment (no external keys). Value: one control plane governs hosted AND external models with the same limits, guardrails, logging, and UC permissions; apps call a governed model service, so admins can route, split, fail over, or swap providers without app changes.</a:t>
            </a:r>
            <a:endParaRPr/>
          </a:p>
        </p:txBody>
      </p:sp>
      <p:sp>
        <p:nvSpPr>
          <p:cNvPr id="189" name="Google Shape;189;obj_b0c792bebd0d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obj_76c580c2281d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obj_76c580c2281d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obj_76c580c2281d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obj_a0846d886dc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obj_a0846d886dc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obj_a0846d886dc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obj_b2fdc915c8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obj_b2fdc915c8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obj_b2fdc915c8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obj_0bcf6f4273ba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obj_0bcf6f4273ba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notebook </a:t>
            </a:r>
            <a:r>
              <a:rPr lang="en-US"/>
              <a:t>01_access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https://fevm-ai-gateway-deepdive.cloud.databricks.com/editor/notebooks/3935504931480728?o=7474647630497631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(SP journey): create demo SP -&gt; grant USE CATALOG + USE SCHEMA + EXECUTE on the model service -&gt; invoke AS the SP returns HTTP 200 (or 400 if the service policy blocks the content) -&gt; revoke EXECUTE -&gt; the SP now gets HTTP 404: Unity Catalog hides the securable, which is stronger than a 403. Then a direct base-FM call bypasses the service entirely (no EXECUTE, no rate limit, no policy) -- the governance boundary is the model service and the grants that reach it. The SP secret is minted in-memory (never shown) and deleted; all grants are torn down at the end. If the 404 lags after revoke, that is propagation - the notebook polls.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https://docs.databricks.com/aws/en/security/auth/access-control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https://docs.databricks.com/aws/en/ai-gateway/govern-model-services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https://docs.databricks.com/aws/en/machine-learning/foundation-model-apis/model-uc-permissions</a:t>
            </a:r>
            <a:endParaRPr/>
          </a:p>
        </p:txBody>
      </p:sp>
      <p:sp>
        <p:nvSpPr>
          <p:cNvPr id="245" name="Google Shape;245;obj_0bcf6f4273ba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obj_7a9fd94cb2c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obj_7a9fd94cb2c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notebook </a:t>
            </a:r>
            <a:r>
              <a:rPr lang="en-US"/>
              <a:t>02_runtime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https://fevm-ai-gateway-deepdive.cloud.databricks.com/editor/notebooks/3935504931480727?o=7474647630497631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Live: fire ~8 rapid calls at the model service (3 requests/min limit) -&gt; a REAL HTTP 429 fires once the window is exceeded. Then a live routing tally: the service is created with a 70/30 split across two FMs and repeated calls land on each in proportion (config.routing is create-time only). A token-per-minute (TPM) limit variant is also shown (distinct 'Tokens-per-minute (TPM)' 429).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https://docs.databricks.com/aws/en/ai-gateway/rate-limits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https://docs.databricks.com/aws/en/ai-gateway/configure-traffic-splitting</a:t>
            </a:r>
            <a:r>
              <a:rPr lang="en-US"/>
              <a:t> (rate limits enforced at the model service; routing is create-time only in Beta)</a:t>
            </a:r>
            <a:endParaRPr/>
          </a:p>
        </p:txBody>
      </p:sp>
      <p:sp>
        <p:nvSpPr>
          <p:cNvPr id="254" name="Google Shape;254;obj_7a9fd94cb2c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obj_ae1ef0e86a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obj_ae1ef0e86a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notebook </a:t>
            </a:r>
            <a:r>
              <a:rPr lang="en-US"/>
              <a:t>03_policy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https://fevm-ai-gateway-deepdive.cloud.databricks.com/editor/notebooks/3935504931480731?o=7474647630497631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Live: a benign prompt passes (finish_reason=stop); a prompt containing a credit-card number is blocked by the block-pii service policy (HTTP 200, finish_reason=content_filter). The handler is system.ai.detect_sensitive_data, action=block, categories class.credit_card + class.us_ssn -- selective: benign through, PII denied. The category must be a valid classification tag (class.credit_card); an invalid value fails closed and blocks every prompt. Redaction is the transform action (verified accepted; there is no 'redact' value); the demo exercises both Block (Step 3) and transform/redact (Step 4). The notebook also adds LLM-as-judge guardrails block_unsafe_content (safety) and block_jailbreak, both verified blocking. Service policies are Beta; enforcement can lag a config change by a minute or two (propagation).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https://docs.databricks.com/aws/en/data-governance/unity-catalog/service-policies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https://docs.databricks.com/aws/en/data-governance/unity-catalog/service-policies/create-service-policy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https://docs.databricks.com/aws/en/data-governance/unity-catalog/service-policies/detect-sensitive-data</a:t>
            </a:r>
            <a:r>
              <a:rPr lang="en-US"/>
              <a:t> (ALLOW/ASK/DENY; attach per service today, ABAC binding roadmap; PII block or redact)</a:t>
            </a:r>
            <a:endParaRPr/>
          </a:p>
        </p:txBody>
      </p:sp>
      <p:sp>
        <p:nvSpPr>
          <p:cNvPr id="263" name="Google Shape;263;obj_ae1ef0e86a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obj_006ebbc604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obj_006ebbc60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notebook </a:t>
            </a:r>
            <a:r>
              <a:rPr lang="en-US"/>
              <a:t>04_evidence_and_cost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https://fevm-ai-gateway-deepdive.cloud.databricks.com/editor/notebooks/3935504931480729?o=7474647630497631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Live: query system.billing.usage for model-serving spend -- MODEL_SERVING (TOKEN + COMPUTE_TIME) and AI_GATEWAY overhead DBUs, broken out by day. Then probe the Budgets API: it is account-level (AccountClient), GA, and returns 404 on this FEVM demo account, so the notebook documents the production budget pattern rather than faking one. Payload-level request/response logging is shown on the endpoint contrast (notebook 05); per the migration guide, inference logging is also a re-creatable setting on a UC model API, so it is not endpoint-exclusive.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https://docs.databricks.com/aws/en/admin/system-tables/billing</a:t>
            </a:r>
            <a:r>
              <a:rPr lang="en-US"/>
              <a:t> (system.billing.usage)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https://docs.databricks.com/aws/en/admin/account-settings/budgets</a:t>
            </a:r>
            <a:r>
              <a:rPr lang="en-US"/>
              <a:t> (budgets, account-level GA)</a:t>
            </a:r>
            <a:endParaRPr/>
          </a:p>
        </p:txBody>
      </p:sp>
      <p:sp>
        <p:nvSpPr>
          <p:cNvPr id="272" name="Google Shape;272;obj_006ebbc604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obj_66d804c0a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obj_66d804c0a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cost levers. Rate limits = calls or tokens per minute/hour (an inline throttle on the model service or endpoint); bounds cost indirectly, not dollar-denominated. Budgets = actual $ spend caps, GA and administered at the account level (account admin), scoped by workspace, product (Unity AI Gateway), endpoint tags, and per-user, with shared (pooled) + per-user thresholds and soft (alert) / hard (block) actions. </a:t>
            </a:r>
            <a:r>
              <a:rPr lang="en-US"/>
              <a:t>Budgets cover Databricks-billed usage (pay-per-token + ai_query batch), enforced near-real-time and approximately against system.billing.usage (source of truth). Per the migration guide, budgets do NOT include provisioned-throughput or external-model usage. Budgets were not available on this FEVM workspace (API 404), so the live demo shows rate limits + system.billing.usage. Cost nuance -- hosted vs external: hosted spend is in system.billing.usage (budgetable/alertable); external-provider spend is the provider's direct bill (BYOK), never in Databricks billing, so not natively budgetable/alertable. External token USAGE is still tracked (token counts + caller identity via AI Gateway usage tracking) -- you can throttle throughput with TPM rate limits (real-time 429, not a spend cap), and for cumulative monitoring build a custom Databricks SQL alert on the AI Gateway usage tables; there is no native budget/alert on external token spend today. Docs: https://docs.databricks.com/aws/en/admin/account-settings/budgets</a:t>
            </a:r>
            <a:endParaRPr/>
          </a:p>
        </p:txBody>
      </p:sp>
      <p:sp>
        <p:nvSpPr>
          <p:cNvPr id="281" name="Google Shape;281;obj_66d804c0a4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obj_73a85867a28e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obj_73a85867a28e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obj_73a85867a28e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obj_915d8e2a95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obj_915d8e2a95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notebook </a:t>
            </a:r>
            <a:r>
              <a:rPr lang="en-US"/>
              <a:t>05_serving_endpoint_contrast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https://fevm-ai-gateway-deepdive.cloud.databricks.com/editor/notebooks/3935504931480730?o=7474647630497631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Live: call the legacy Model Serving endpoint (ai-gateway-deepdive) and show its endpoint-side governance -- full request/response payload logging to the inference table, CAN_QUERY (an endpoint ACL) instead of EXECUTE (a UC grant), and the fallback / traffic-split config. This is the contrast: the serving endpoint plus AI Gateway config is the legacy/GA path; the UC model service (notebooks 01-04) is the strategic, catalog-native path. The caller's URL decides which one governs.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Workspace resources for this 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Serving endpoint (legacy overlay): ai-gateway-deepdive. Governed Model Serving endpoint carrying usage tracking, the inference table, guardrails, and the 70/30 traffic split; </a:t>
            </a:r>
            <a:r>
              <a:rPr lang="en-US"/>
              <a:t>backs notebook 05 (the endpoint contrast)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https://fevm-ai-gateway-deepdive.cloud.databricks.com/ml/endpoints/ai-gateway-deepdive?o=7474647630497631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UC model service (strategic): ai_gateway_deepdive_catalog.core.aigw_demo_service. Routes to system.ai.llama-4-maverick; carries the 3 req/min service rate limit (the real HTTP 429) and the block-pii service policy; </a:t>
            </a:r>
            <a:r>
              <a:rPr lang="en-US"/>
              <a:t>backs notebooks 01-04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https://fevm-ai-gateway-deepdive.cloud.databricks.com/explore/model-services/ai_gateway_deepdive_catalog/core/aigw_demo_service?o=7474647630497631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https://docs.databricks.com/aws/en/ai-gateway/configure-ai-gateway-endpoints</a:t>
            </a:r>
            <a:r>
              <a:rPr lang="en-US"/>
              <a:t> (legacy serving-endpoint config) ;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https://docs.databricks.com/aws/en/ai-gateway/model-services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https://docs.databricks.com/aws/en/ai-gateway/govern-model-services</a:t>
            </a:r>
            <a:r>
              <a:rPr lang="en-US"/>
              <a:t> (constructs, scope, definer's privileges)</a:t>
            </a:r>
            <a:endParaRPr/>
          </a:p>
        </p:txBody>
      </p:sp>
      <p:sp>
        <p:nvSpPr>
          <p:cNvPr id="296" name="Google Shape;296;obj_915d8e2a95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obj_58780a404ba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obj_58780a404ba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obj_58780a404ba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obj_7f03e0cfd7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obj_7f03e0cfd7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obj_7f03e0cfd7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obj_f453d4fd8bc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obj_f453d4fd8bc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obj_f453d4fd8bc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obj_8963a7e0e5da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obj_8963a7e0e5da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obj_8963a7e0e5da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obj_8ea68b372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obj_8ea68b372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Bring the pre-deployed Databricks foundation models (system.ai) under cost + policy governance. Terraform: the revoke/grant is databricks_grants on the system.ai schema (drop EXECUTE) and on your model services (add EXECUTE); the model service itself is databricks_ai_gateway_model_service (external providers: databricks_ai_gateway_model_provider_service), both in the Databricks Terraform provider per the CHANGELOG. Docs: 'Removing EXECUTE from system.ai clears all default access'; 'create a separate model service per group, then grant EXECUTE accordingly.' Rate limits (calls/tokens per interval) live on the service; budgets ($ caps) are the account-level dollar lever. Precise restrict pattern (docs): remove the account users group USE SCHEMA + EXECUTE on system.ai and grant them to the platform team, </a:t>
            </a:r>
            <a:r>
              <a:rPr lang="en-US"/>
              <a:t>for a per-model restriction, create a separate model service and grant EXECUTE selectively (UC has no DENY).</a:t>
            </a:r>
            <a:r>
              <a:rPr lang="en-US"/>
              <a:t> Definer privileges: a model service invokes against the OWNER privileges, so a caller needs EXECUTE only on the service (+ USE CATALOG/SCHEMA); the owner must hold EXECUTE on every destination (primary + fallback) or requests fail.</a:t>
            </a:r>
            <a:endParaRPr/>
          </a:p>
        </p:txBody>
      </p:sp>
      <p:sp>
        <p:nvSpPr>
          <p:cNvPr id="346" name="Google Shape;346;obj_8ea68b372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SLIDES_API172583634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SLIDES_API172583634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Enforce Unity AI Gateway</a:t>
            </a:r>
            <a:r>
              <a:rPr lang="en-US"/>
              <a:t> is the workspace-level lever that closes the direct-serving bypass. Opt-in, workspace-admin, </a:t>
            </a:r>
            <a:r>
              <a:rPr lang="en-US"/>
              <a:t>early preview (opt-in);</a:t>
            </a:r>
            <a:r>
              <a:rPr lang="en-US"/>
              <a:t> off by default for new workspaces. Migration-first: point apps, ai_query, and SDK / coding-agent clients at UC model services before enabling. What it closes, by model type: Databricks-hosted pay-per-token -- existing system-provided endpoints are disabled (direct bypass closed); provisioned throughput + external models -- new endpoints require the gateway but existing ones stay directly queryable; direct external-provider API access is a network-egress concern, blocked with the Serverless Egress Gateway (SEG), not this setting. Known limitations while products migrate: Apps wired to a Serving Endpoint resource, ai_query against user-created services, and some Vector Search flows. </a:t>
            </a:r>
            <a:r>
              <a:rPr lang="en-US"/>
              <a:t>Legacy retirement timelines are subject to change.</a:t>
            </a:r>
            <a:endParaRPr/>
          </a:p>
        </p:txBody>
      </p:sp>
      <p:sp>
        <p:nvSpPr>
          <p:cNvPr id="367" name="Google Shape;367;SLIDES_API172583634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obj_7cd3a90ca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obj_7cd3a90ca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https://docs.databricks.com/aws/en/ai-gateway/ai-governance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https://docs.databricks.com/aws/en/ai-gateway/moderate-tutorial</a:t>
            </a:r>
            <a:r>
              <a:rPr lang="en-US"/>
              <a:t> (service policies Beta, account Previews)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https://docs.databricks.com/aws/en/admin/account-settings/budgets</a:t>
            </a:r>
            <a:r>
              <a:rPr lang="en-US"/>
              <a:t> (budgets GA)</a:t>
            </a:r>
            <a:endParaRPr/>
          </a:p>
        </p:txBody>
      </p:sp>
      <p:sp>
        <p:nvSpPr>
          <p:cNvPr id="388" name="Google Shape;388;obj_7cd3a90ca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obj_13cefe85ab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obj_13cefe85ab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Workspace admin precision: configuring the endpoint + AI Gateway config and granting CAN_QUERY require CAN_MANAGE on the serving endpoint -- held by the endpoint creator/owner, anyone granted CAN_MANAGE, or a workspace admin (admins hold CAN_MANAGE on all workspace objects). Not admin-exclusive; the creator often configures it. Gotcha: endpoint updates re-evaluate the recorded creator workspace membership -- if the creator is no longer a member, updates fail PERMISSION_DENIED even for a valid caller. Querying the served_entities / endpoint_usage system tables requires account admin.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https://docs.databricks.com/aws/en/security/auth/access-control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https://docs.databricks.com/aws/en/ai-gateway/govern-model-services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https://docs.databricks.com/aws/en/data-governance/unity-catalog/access-control/privileges-reference</a:t>
            </a:r>
            <a:endParaRPr/>
          </a:p>
        </p:txBody>
      </p:sp>
      <p:sp>
        <p:nvSpPr>
          <p:cNvPr id="406" name="Google Shape;406;obj_13cefe85ab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obj_1aa8a495ff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obj_1aa8a495ff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https://docs.databricks.com/aws/en/data-governance/unity-catalog/access-control/privileges-reference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https://docs.databricks.com/aws/en/ai-gateway/govern-model-services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https://docs.databricks.com/aws/en/security/auth/access-control</a:t>
            </a:r>
            <a:r>
              <a:rPr lang="en-US"/>
              <a:t> ;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https://docs.databricks.com/aws/en/admin/account-settings/budgets</a:t>
            </a:r>
            <a:endParaRPr/>
          </a:p>
        </p:txBody>
      </p:sp>
      <p:sp>
        <p:nvSpPr>
          <p:cNvPr id="432" name="Google Shape;432;obj_1aa8a495ff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obj_5c5d0f4c58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obj_5c5d0f4c58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 (verified against official Databricks docs):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Endpoint CAN_MANAGE / CAN_QUERY: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https://docs.databricks.com/aws/en/security/auth/access-control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CREATE SERVICE / privileges: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https://docs.databricks.com/aws/en/data-governance/unity-catalog/access-control/privileges-reference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Model service EXECUTE + USE CATALOG/SCHEMA, definer's privileges: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https://docs.databricks.com/aws/en/ai-gateway/govern-model-services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r>
              <a:rPr lang="en-US"/>
              <a:t>system.ai restriction (remove EXECUTE)</a:t>
            </a:r>
            <a:r>
              <a:rPr lang="en-US"/>
              <a:t>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https://docs.databricks.com/aws/en/machine-learning/foundation-model-apis/model-uc-permissions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Model provider service (revoke owner EXECUTE):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https://docs.databricks.com/aws/en/ai-gateway/govern-model-provider-services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Rate limits (set to 0 to block): </a:t>
            </a:r>
            <a:r>
              <a:rPr lang="en-US" u="sng">
                <a:solidFill>
                  <a:schemeClr val="hlink"/>
                </a:solidFill>
                <a:hlinkClick r:id="rId7"/>
              </a:rPr>
              <a:t>https://docs.databricks.com/aws/en/ai-gateway/rate-limits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lever is a standard grant/ACL, so it is reversible (re-grant to restore).</a:t>
            </a:r>
            <a:endParaRPr/>
          </a:p>
        </p:txBody>
      </p:sp>
      <p:sp>
        <p:nvSpPr>
          <p:cNvPr id="440" name="Google Shape;440;obj_5c5d0f4c58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obj_8e673411670c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obj_8e673411670c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https://docs.databricks.com/aws/en/security/auth/access-control</a:t>
            </a:r>
            <a:r>
              <a:rPr lang="en-US"/>
              <a:t> (CAN_QUERY) ;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https://docs.databricks.com/aws/en/ai-gateway/govern-model-services</a:t>
            </a:r>
            <a:r>
              <a:rPr lang="en-US"/>
              <a:t> (EXECUTE + USE CATALOG/SCHEMA, definer's privileges, 404-hidden)</a:t>
            </a:r>
            <a:endParaRPr/>
          </a:p>
        </p:txBody>
      </p:sp>
      <p:sp>
        <p:nvSpPr>
          <p:cNvPr id="448" name="Google Shape;448;obj_8e673411670c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obj_11069c7d4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obj_11069c7d4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obj_11069c7d4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obj_92cdd424151f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obj_92cdd424151f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Streamlit App: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https://ai-gateway-deepdive-7474647630497631.aws.databricksapps.com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AI/BI dashboard: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https://fevm-ai-gateway-deepdive.cloud.databricks.com/dashboardsv3/01f19ce05f241e8e9d7ffc89942eb25a/published?w=7474647630497631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Notebooks: /Workspace/Users/erik.nor@databricks.com/.bundle/ai-gateway-deepdive/dev/files/notebooks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App flood button </a:t>
            </a:r>
            <a:r>
              <a:rPr lang="en-US"/>
              <a:t>targets the UC model service</a:t>
            </a:r>
            <a:r>
              <a:rPr lang="en-US"/>
              <a:t> to trip a real 429.</a:t>
            </a:r>
            <a:endParaRPr/>
          </a:p>
        </p:txBody>
      </p:sp>
      <p:sp>
        <p:nvSpPr>
          <p:cNvPr id="461" name="Google Shape;461;obj_92cdd424151f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obj_8a29d9ddf75b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obj_8a29d9ddf75b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obj_8a29d9ddf75b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rate Theme" showMasterSp="0">
  <p:cSld name="Corporate Them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7202" y="2844918"/>
            <a:ext cx="5760665" cy="90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rporate Theme" showMasterSp="0">
  <p:cSld name="1_Corporate Theme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red, light&#10;&#10;Description automatically generated"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202" y="2844918"/>
            <a:ext cx="5760665" cy="90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accen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black, holding, white&#10;&#10;Description automatically generated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46098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arlow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6098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01" showMasterSp="0" type="titleOnly">
  <p:cSld name="TITLE_ONLY">
    <p:bg>
      <p:bgPr>
        <a:solidFill>
          <a:schemeClr val="accen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black, holding, white&#10;&#10;Description automatically generated"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60979" y="1585913"/>
            <a:ext cx="11259966" cy="459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▪"/>
              <a:defRPr/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Content">
  <p:cSld name="Title, Subtitle and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60979" y="184945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60979" y="2136530"/>
            <a:ext cx="11259966" cy="4040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▪"/>
              <a:defRPr/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60375" y="1177132"/>
            <a:ext cx="11270646" cy="642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460979" y="2280402"/>
            <a:ext cx="5399821" cy="3896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400"/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 sz="18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321123" y="2282025"/>
            <a:ext cx="5399821" cy="3894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400"/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 sz="18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0" name="Google Shape;40;p9"/>
          <p:cNvCxnSpPr/>
          <p:nvPr/>
        </p:nvCxnSpPr>
        <p:spPr>
          <a:xfrm>
            <a:off x="5968778" y="1585913"/>
            <a:ext cx="0" cy="4590288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321123" y="1587535"/>
            <a:ext cx="5399821" cy="58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4" type="body"/>
          </p:nvPr>
        </p:nvSpPr>
        <p:spPr>
          <a:xfrm>
            <a:off x="460978" y="1587535"/>
            <a:ext cx="5399821" cy="58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400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">
  <p:cSld name="Three Colum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60979" y="2282023"/>
            <a:ext cx="3474720" cy="3894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400"/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 sz="18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2" type="body"/>
          </p:nvPr>
        </p:nvSpPr>
        <p:spPr>
          <a:xfrm>
            <a:off x="4354103" y="2282023"/>
            <a:ext cx="3474720" cy="3894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400"/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 sz="18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3" type="body"/>
          </p:nvPr>
        </p:nvSpPr>
        <p:spPr>
          <a:xfrm>
            <a:off x="8247227" y="2282023"/>
            <a:ext cx="3474720" cy="3894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2400"/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 sz="18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7919499" y="1585913"/>
            <a:ext cx="0" cy="4590288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" name="Google Shape;49;p10"/>
          <p:cNvCxnSpPr/>
          <p:nvPr/>
        </p:nvCxnSpPr>
        <p:spPr>
          <a:xfrm>
            <a:off x="4031311" y="1585913"/>
            <a:ext cx="0" cy="4590288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" name="Google Shape;50;p10"/>
          <p:cNvSpPr txBox="1"/>
          <p:nvPr>
            <p:ph idx="4" type="body"/>
          </p:nvPr>
        </p:nvSpPr>
        <p:spPr>
          <a:xfrm>
            <a:off x="4354103" y="1585914"/>
            <a:ext cx="3474720" cy="58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5" type="body"/>
          </p:nvPr>
        </p:nvSpPr>
        <p:spPr>
          <a:xfrm>
            <a:off x="8247227" y="1585914"/>
            <a:ext cx="3474720" cy="58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6" type="body"/>
          </p:nvPr>
        </p:nvSpPr>
        <p:spPr>
          <a:xfrm>
            <a:off x="460979" y="1585914"/>
            <a:ext cx="3474720" cy="58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Box">
  <p:cSld name="Two Column Box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460978" y="1944353"/>
            <a:ext cx="5405791" cy="3424945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6315154" y="1944353"/>
            <a:ext cx="5405791" cy="3424945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1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619241" y="2102946"/>
            <a:ext cx="5086968" cy="3119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50"/>
              <a:buChar char="▪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6479385" y="2104568"/>
            <a:ext cx="5086968" cy="31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50"/>
              <a:buChar char="▪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3" type="body"/>
          </p:nvPr>
        </p:nvSpPr>
        <p:spPr>
          <a:xfrm>
            <a:off x="6321123" y="1446766"/>
            <a:ext cx="5399821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body"/>
          </p:nvPr>
        </p:nvSpPr>
        <p:spPr>
          <a:xfrm>
            <a:off x="460978" y="1446766"/>
            <a:ext cx="5399821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">
  <p:cSld name="Three Box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460979" y="1944353"/>
            <a:ext cx="3388068" cy="3424945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4415701" y="1944353"/>
            <a:ext cx="3388068" cy="3424945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2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619241" y="2102946"/>
            <a:ext cx="3077853" cy="3119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50"/>
              <a:buChar char="▪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4579931" y="2104568"/>
            <a:ext cx="3077853" cy="31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3" type="body"/>
          </p:nvPr>
        </p:nvSpPr>
        <p:spPr>
          <a:xfrm>
            <a:off x="4421670" y="1446766"/>
            <a:ext cx="3384326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4" type="body"/>
          </p:nvPr>
        </p:nvSpPr>
        <p:spPr>
          <a:xfrm>
            <a:off x="460979" y="1446766"/>
            <a:ext cx="3384326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/>
        </p:nvSpPr>
        <p:spPr>
          <a:xfrm>
            <a:off x="8332877" y="1944353"/>
            <a:ext cx="3388068" cy="3424945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5" type="body"/>
          </p:nvPr>
        </p:nvSpPr>
        <p:spPr>
          <a:xfrm>
            <a:off x="8497107" y="2104568"/>
            <a:ext cx="3077853" cy="31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6" type="body"/>
          </p:nvPr>
        </p:nvSpPr>
        <p:spPr>
          <a:xfrm>
            <a:off x="8338846" y="1446766"/>
            <a:ext cx="3384326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ox">
  <p:cSld name="Four Box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460978" y="1944353"/>
            <a:ext cx="2447511" cy="3424945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3398463" y="1944353"/>
            <a:ext cx="2447511" cy="3424945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619241" y="2102946"/>
            <a:ext cx="2128284" cy="3119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Char char="▪"/>
              <a:defRPr sz="1800">
                <a:solidFill>
                  <a:schemeClr val="dk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2" type="body"/>
          </p:nvPr>
        </p:nvSpPr>
        <p:spPr>
          <a:xfrm>
            <a:off x="3558716" y="2104568"/>
            <a:ext cx="2128284" cy="31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50"/>
              <a:buChar char="▪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3" type="body"/>
          </p:nvPr>
        </p:nvSpPr>
        <p:spPr>
          <a:xfrm>
            <a:off x="3400454" y="1446766"/>
            <a:ext cx="2444808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4" type="body"/>
          </p:nvPr>
        </p:nvSpPr>
        <p:spPr>
          <a:xfrm>
            <a:off x="460979" y="1446766"/>
            <a:ext cx="2444808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/>
          <p:nvPr/>
        </p:nvSpPr>
        <p:spPr>
          <a:xfrm>
            <a:off x="6335948" y="1944353"/>
            <a:ext cx="2447511" cy="3424945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 txBox="1"/>
          <p:nvPr>
            <p:ph idx="5" type="body"/>
          </p:nvPr>
        </p:nvSpPr>
        <p:spPr>
          <a:xfrm>
            <a:off x="6498191" y="2104568"/>
            <a:ext cx="2128284" cy="31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50"/>
              <a:buChar char="▪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6" type="body"/>
          </p:nvPr>
        </p:nvSpPr>
        <p:spPr>
          <a:xfrm>
            <a:off x="6339929" y="1446766"/>
            <a:ext cx="2444808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/>
          <p:nvPr/>
        </p:nvSpPr>
        <p:spPr>
          <a:xfrm>
            <a:off x="9273434" y="1944353"/>
            <a:ext cx="2447511" cy="3424945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26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/>
          <p:nvPr>
            <p:ph idx="7" type="body"/>
          </p:nvPr>
        </p:nvSpPr>
        <p:spPr>
          <a:xfrm>
            <a:off x="9437665" y="2104568"/>
            <a:ext cx="2128284" cy="311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1432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50"/>
              <a:buChar char="▪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▪"/>
              <a:defRPr sz="160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▪"/>
              <a:defRPr sz="1400"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4pPr>
            <a:lvl5pPr indent="-2857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Char char="▪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8" type="body"/>
          </p:nvPr>
        </p:nvSpPr>
        <p:spPr>
          <a:xfrm>
            <a:off x="9279404" y="1446766"/>
            <a:ext cx="2444808" cy="55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Dark" showMasterSp="0">
  <p:cSld name="Quote Dark">
    <p:bg>
      <p:bgPr>
        <a:solidFill>
          <a:schemeClr val="accen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black, holding, white&#10;&#10;Description automatically generated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60980" y="4467420"/>
            <a:ext cx="6093439" cy="813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9EB7BF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2" type="body"/>
          </p:nvPr>
        </p:nvSpPr>
        <p:spPr>
          <a:xfrm>
            <a:off x="460980" y="1315763"/>
            <a:ext cx="6093439" cy="2940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Quote Dark" showMasterSp="0">
  <p:cSld name="1_Quote Dark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red, woman, street, phone&#10;&#10;Description automatically generated" id="92" name="Google Shape;9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60980" y="4467420"/>
            <a:ext cx="6093439" cy="813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9EB7BF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2" type="body"/>
          </p:nvPr>
        </p:nvSpPr>
        <p:spPr>
          <a:xfrm>
            <a:off x="460980" y="1315763"/>
            <a:ext cx="6093439" cy="2940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Quote Dark" showMasterSp="0">
  <p:cSld name="2_Quote Dark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camera, sitting, man, table&#10;&#10;Description automatically generated" id="98" name="Google Shape;98;p16"/>
          <p:cNvPicPr preferRelativeResize="0"/>
          <p:nvPr/>
        </p:nvPicPr>
        <p:blipFill rotWithShape="1">
          <a:blip r:embed="rId2">
            <a:alphaModFix/>
          </a:blip>
          <a:srcRect b="0" l="0" r="18706" t="0"/>
          <a:stretch/>
        </p:blipFill>
        <p:spPr>
          <a:xfrm>
            <a:off x="2280650" y="0"/>
            <a:ext cx="99113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460980" y="4467420"/>
            <a:ext cx="6093439" cy="813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9EB7BF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2" type="body"/>
          </p:nvPr>
        </p:nvSpPr>
        <p:spPr>
          <a:xfrm>
            <a:off x="460980" y="1315763"/>
            <a:ext cx="6093439" cy="29404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hite">
  <p:cSld name="Quote White">
    <p:bg>
      <p:bgPr>
        <a:solidFill>
          <a:srgbClr val="6CA6B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automatically generated" id="104" name="Google Shape;10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60980" y="4467420"/>
            <a:ext cx="6093439" cy="813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800">
                <a:solidFill>
                  <a:schemeClr val="accent3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2" type="body"/>
          </p:nvPr>
        </p:nvSpPr>
        <p:spPr>
          <a:xfrm>
            <a:off x="460980" y="1315763"/>
            <a:ext cx="60933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02" showMasterSp="0">
  <p:cSld name="Headline 02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ight, black, large, white&#10;&#10;Description automatically generated" id="108" name="Google Shape;10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01" showMasterSp="0">
  <p:cSld name="1_Headline 01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oung person sitting in front of a computer&#10;&#10;Description automatically generated" id="112" name="Google Shape;11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Headline 01" showMasterSp="0">
  <p:cSld name="2_Headline 01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table using a computer&#10;&#10;Description automatically generated"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24115" t="0"/>
          <a:stretch/>
        </p:blipFill>
        <p:spPr>
          <a:xfrm>
            <a:off x="2940147" y="0"/>
            <a:ext cx="925185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Headline 01" showMasterSp="0">
  <p:cSld name="3_Headline 01"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sitting at a table using a computer&#10;&#10;Description automatically generated" id="122" name="Google Shape;122;p21"/>
          <p:cNvPicPr preferRelativeResize="0"/>
          <p:nvPr/>
        </p:nvPicPr>
        <p:blipFill rotWithShape="1">
          <a:blip r:embed="rId2">
            <a:alphaModFix/>
          </a:blip>
          <a:srcRect b="0" l="0" r="11539" t="0"/>
          <a:stretch/>
        </p:blipFill>
        <p:spPr>
          <a:xfrm>
            <a:off x="1406769" y="0"/>
            <a:ext cx="107852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erson, black, holding, white&#10;&#10;Description automatically generated"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Subtitle and Content">
  <p:cSld name="1_Title, Subtitle and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arlow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60979" y="2136530"/>
            <a:ext cx="11259966" cy="4040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▪"/>
              <a:defRPr/>
            </a:lvl1pPr>
            <a:lvl2pPr indent="-314325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2" type="body"/>
          </p:nvPr>
        </p:nvSpPr>
        <p:spPr>
          <a:xfrm>
            <a:off x="460375" y="1142999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2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460979" y="1585913"/>
            <a:ext cx="11259966" cy="459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19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▪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>
                <a:solidFill>
                  <a:schemeClr val="lt1"/>
                </a:solidFill>
              </a:defRPr>
            </a:lvl3pPr>
            <a:lvl4pPr indent="-314325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>
                <a:solidFill>
                  <a:schemeClr val="lt1"/>
                </a:solidFill>
              </a:defRPr>
            </a:lvl4pPr>
            <a:lvl5pPr indent="-314325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3" name="Google Shape;13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" showMasterSp="0">
  <p:cSld name="Title Dark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6" name="Google Shape;1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04">
  <p:cSld name="Headline 04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automatically generated" id="139" name="Google Shape;139;p26"/>
          <p:cNvPicPr preferRelativeResize="0"/>
          <p:nvPr/>
        </p:nvPicPr>
        <p:blipFill rotWithShape="1">
          <a:blip r:embed="rId2">
            <a:alphaModFix amt="50000"/>
          </a:blip>
          <a:srcRect b="0" l="0" r="14270" t="0"/>
          <a:stretch/>
        </p:blipFill>
        <p:spPr>
          <a:xfrm>
            <a:off x="1739900" y="0"/>
            <a:ext cx="10452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arlow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01" showMasterSp="0">
  <p:cSld name="Section Divider 01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building, light, traffic, white&#10;&#10;Description automatically generated" id="142" name="Google Shape;14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>
            <p:ph type="title"/>
          </p:nvPr>
        </p:nvSpPr>
        <p:spPr>
          <a:xfrm>
            <a:off x="460980" y="2766218"/>
            <a:ext cx="108928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6348389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60979" y="365126"/>
            <a:ext cx="11259966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arlow"/>
              <a:buNone/>
              <a:defRPr b="0" i="0" sz="4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Barlow"/>
              <a:buNone/>
              <a:defRPr b="0" i="0" sz="18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60979" y="1585913"/>
            <a:ext cx="11259966" cy="459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3A3838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72812" y="6350020"/>
            <a:ext cx="1335024" cy="2100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460980" y="1122363"/>
            <a:ext cx="9144000" cy="23877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Unity AI Gateway</a:t>
            </a:r>
            <a:endParaRPr/>
          </a:p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460980" y="3602038"/>
            <a:ext cx="9144000" cy="1655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Deep dive: governed AI on Databricks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457200" y="5620000"/>
            <a:ext cx="63000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CCD1DB"/>
                </a:solidFill>
                <a:latin typeface="Barlow"/>
                <a:ea typeface="Barlow"/>
                <a:cs typeface="Barlow"/>
                <a:sym typeface="Barlow"/>
              </a:rPr>
              <a:t>GA/Beta</a:t>
            </a:r>
            <a:r>
              <a:rPr i="1" lang="en-US" sz="1100">
                <a:solidFill>
                  <a:srgbClr val="CCD1DB"/>
                </a:solidFill>
                <a:latin typeface="Barlow"/>
                <a:ea typeface="Barlow"/>
                <a:cs typeface="Barlow"/>
                <a:sym typeface="Barlow"/>
              </a:rPr>
              <a:t>, enforcement, and legacy-endpoint deprecation dates are subject to change; verify against current Databricks docs.</a:t>
            </a:r>
            <a:endParaRPr i="1" sz="1100">
              <a:solidFill>
                <a:srgbClr val="CCD1DB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460980" y="2766218"/>
            <a:ext cx="108927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Governed Front Door for Every AI Request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Control Plane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60979" y="1585913"/>
            <a:ext cx="11259900" cy="45909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Sits between the calling apps and the models</a:t>
            </a:r>
            <a:r>
              <a:rPr lang="en-US"/>
              <a:t>: identity, rate limits, </a:t>
            </a:r>
            <a:r>
              <a:rPr lang="en-US"/>
              <a:t>content policy, logging, and cost</a:t>
            </a:r>
            <a:r>
              <a:rPr lang="en-US"/>
              <a:t> -- in one place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The platform team configures it</a:t>
            </a:r>
            <a:r>
              <a:rPr lang="en-US"/>
              <a:t>; app teams consume it transparently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It governs only traffic that flows through it -- </a:t>
            </a:r>
            <a:r>
              <a:rPr lang="en-US"/>
              <a:t>direct SDK or PAT calls to a base model bypass it entirely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Governed Path for Every Request</a:t>
            </a:r>
            <a:endParaRPr/>
          </a:p>
        </p:txBody>
      </p:sp>
      <p:sp>
        <p:nvSpPr>
          <p:cNvPr id="172" name="Google Shape;172;p31"/>
          <p:cNvSpPr/>
          <p:nvPr/>
        </p:nvSpPr>
        <p:spPr>
          <a:xfrm>
            <a:off x="502920" y="2514600"/>
            <a:ext cx="24690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Users &amp; apps</a:t>
            </a:r>
            <a:endParaRPr b="1" sz="12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Coding agents</a:t>
            </a:r>
            <a:endParaRPr b="1" sz="12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Service principals</a:t>
            </a:r>
            <a:endParaRPr b="1" sz="12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3063240" y="3017520"/>
            <a:ext cx="5028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ABB"/>
          </a:solidFill>
          <a:ln cap="flat" cmpd="sng" w="3175">
            <a:solidFill>
              <a:srgbClr val="A0AA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4" name="Google Shape;174;p31"/>
          <p:cNvSpPr/>
          <p:nvPr/>
        </p:nvSpPr>
        <p:spPr>
          <a:xfrm>
            <a:off x="3703320" y="1965960"/>
            <a:ext cx="4800600" cy="2514600"/>
          </a:xfrm>
          <a:prstGeom prst="roundRect">
            <a:avLst>
              <a:gd fmla="val 16667" name="adj"/>
            </a:avLst>
          </a:prstGeom>
          <a:solidFill>
            <a:srgbClr val="1B3037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3703320" y="2084831"/>
            <a:ext cx="4800600" cy="457200"/>
          </a:xfrm>
          <a:prstGeom prst="roundRect">
            <a:avLst>
              <a:gd fmla="val 16667" name="adj"/>
            </a:avLst>
          </a:prstGeom>
          <a:solidFill>
            <a:srgbClr val="1B3037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Unity AI Gateway</a:t>
            </a:r>
            <a:endParaRPr b="1" sz="17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3703320" y="2542032"/>
            <a:ext cx="4800600" cy="320100"/>
          </a:xfrm>
          <a:prstGeom prst="roundRect">
            <a:avLst>
              <a:gd fmla="val 16667" name="adj"/>
            </a:avLst>
          </a:prstGeom>
          <a:solidFill>
            <a:srgbClr val="1B3037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FB7BE"/>
                </a:solidFill>
                <a:latin typeface="DM Sans"/>
                <a:ea typeface="DM Sans"/>
                <a:cs typeface="DM Sans"/>
                <a:sym typeface="DM Sans"/>
              </a:rPr>
              <a:t>one governed path: identity, policy, cost, logging</a:t>
            </a:r>
            <a:endParaRPr sz="900">
              <a:solidFill>
                <a:srgbClr val="9FB7B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31"/>
          <p:cNvSpPr/>
          <p:nvPr/>
        </p:nvSpPr>
        <p:spPr>
          <a:xfrm>
            <a:off x="3886200" y="3246120"/>
            <a:ext cx="795600" cy="567000"/>
          </a:xfrm>
          <a:prstGeom prst="roundRect">
            <a:avLst>
              <a:gd fmla="val 16667" name="adj"/>
            </a:avLst>
          </a:prstGeom>
          <a:solidFill>
            <a:srgbClr val="1B5161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ACCESS</a:t>
            </a:r>
            <a:endParaRPr b="1" sz="7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31"/>
          <p:cNvSpPr/>
          <p:nvPr/>
        </p:nvSpPr>
        <p:spPr>
          <a:xfrm>
            <a:off x="4791456" y="3246120"/>
            <a:ext cx="795600" cy="567000"/>
          </a:xfrm>
          <a:prstGeom prst="roundRect">
            <a:avLst>
              <a:gd fmla="val 16667" name="adj"/>
            </a:avLst>
          </a:prstGeom>
          <a:solidFill>
            <a:srgbClr val="00B378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RUNTIME</a:t>
            </a:r>
            <a:endParaRPr b="1" sz="7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5696712" y="3246120"/>
            <a:ext cx="795600" cy="567000"/>
          </a:xfrm>
          <a:prstGeom prst="roundRect">
            <a:avLst>
              <a:gd fmla="val 16667" name="adj"/>
            </a:avLst>
          </a:prstGeom>
          <a:solidFill>
            <a:srgbClr val="FF3620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POLICY</a:t>
            </a:r>
            <a:endParaRPr b="1" sz="7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6601968" y="3246120"/>
            <a:ext cx="795600" cy="567000"/>
          </a:xfrm>
          <a:prstGeom prst="roundRect">
            <a:avLst>
              <a:gd fmla="val 16667" name="adj"/>
            </a:avLst>
          </a:prstGeom>
          <a:solidFill>
            <a:srgbClr val="FFAB00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EVIDENCE</a:t>
            </a:r>
            <a:endParaRPr b="1" sz="7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7507224" y="3246120"/>
            <a:ext cx="795600" cy="567000"/>
          </a:xfrm>
          <a:prstGeom prst="roundRect">
            <a:avLst>
              <a:gd fmla="val 16667" name="adj"/>
            </a:avLst>
          </a:prstGeom>
          <a:solidFill>
            <a:srgbClr val="628793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COST</a:t>
            </a:r>
            <a:endParaRPr b="1" sz="7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8595360" y="3017520"/>
            <a:ext cx="5028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ABB"/>
          </a:solidFill>
          <a:ln cap="flat" cmpd="sng" w="3175">
            <a:solidFill>
              <a:srgbClr val="A0AA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3" name="Google Shape;183;p31"/>
          <p:cNvSpPr/>
          <p:nvPr/>
        </p:nvSpPr>
        <p:spPr>
          <a:xfrm>
            <a:off x="9189720" y="2240280"/>
            <a:ext cx="25146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Databricks-hosted</a:t>
            </a:r>
            <a:endParaRPr b="1" sz="10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system.ai · provisioned · custom</a:t>
            </a:r>
            <a:endParaRPr b="1" sz="10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31"/>
          <p:cNvSpPr/>
          <p:nvPr/>
        </p:nvSpPr>
        <p:spPr>
          <a:xfrm>
            <a:off x="9189720" y="3337560"/>
            <a:ext cx="25146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External providers</a:t>
            </a:r>
            <a:endParaRPr b="1" sz="10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OpenAI · Anthropic · Azure · Bedrock</a:t>
            </a:r>
            <a:endParaRPr b="1" sz="10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609904" y="1389888"/>
            <a:ext cx="10972800" cy="411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628793"/>
                </a:solidFill>
                <a:latin typeface="DM Sans"/>
                <a:ea typeface="DM Sans"/>
                <a:cs typeface="DM Sans"/>
                <a:sym typeface="DM Sans"/>
              </a:rPr>
              <a:t>In this demo: a legacy Model Serving endpoint (AI Gateway config; GA, being deprecated) and a Unity AI Gateway model service (v3; GA, some features still rolling out). Both share the runtime features; the model service wins on UC-native governance and lifecycle. This demo leads with it.</a:t>
            </a:r>
            <a:endParaRPr sz="1150">
              <a:solidFill>
                <a:srgbClr val="62879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Govern Any Model: Hosted or External</a:t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460979" y="2280402"/>
            <a:ext cx="5399700" cy="3896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Foundation Model APIs (system.ai), provisioned throughput, </a:t>
            </a:r>
            <a:r>
              <a:rPr lang="en-US"/>
              <a:t>and self-hosted served models</a:t>
            </a:r>
            <a:r>
              <a:rPr lang="en-US"/>
              <a:t>. No provider keys; spend flows through Databricks billing. This demo uses Databricks-hosted FMs.</a:t>
            </a:r>
            <a:endParaRPr/>
          </a:p>
        </p:txBody>
      </p:sp>
      <p:sp>
        <p:nvSpPr>
          <p:cNvPr id="193" name="Google Shape;193;p32"/>
          <p:cNvSpPr txBox="1"/>
          <p:nvPr>
            <p:ph idx="2" type="body"/>
          </p:nvPr>
        </p:nvSpPr>
        <p:spPr>
          <a:xfrm>
            <a:off x="6321123" y="2282025"/>
            <a:ext cx="5399700" cy="38949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OpenAI, Anthropic, Azure OpenAI, Bedrock, Google -- registered once as UC model provider services. Keys are held centrally (BYOK); callers use Databricks credentials and never touch the provider key.</a:t>
            </a:r>
            <a:endParaRPr/>
          </a:p>
        </p:txBody>
      </p:sp>
      <p:sp>
        <p:nvSpPr>
          <p:cNvPr id="194" name="Google Shape;194;p32"/>
          <p:cNvSpPr txBox="1"/>
          <p:nvPr>
            <p:ph idx="3" type="body"/>
          </p:nvPr>
        </p:nvSpPr>
        <p:spPr>
          <a:xfrm>
            <a:off x="6321123" y="1587535"/>
            <a:ext cx="5399700" cy="584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External providers</a:t>
            </a:r>
            <a:endParaRPr/>
          </a:p>
        </p:txBody>
      </p:sp>
      <p:sp>
        <p:nvSpPr>
          <p:cNvPr id="195" name="Google Shape;195;p32"/>
          <p:cNvSpPr txBox="1"/>
          <p:nvPr>
            <p:ph idx="4" type="body"/>
          </p:nvPr>
        </p:nvSpPr>
        <p:spPr>
          <a:xfrm>
            <a:off x="460978" y="1587535"/>
            <a:ext cx="5399700" cy="584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Databricks-hosted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Production Today</a:t>
            </a:r>
            <a:endParaRPr/>
          </a:p>
        </p:txBody>
      </p:sp>
      <p:sp>
        <p:nvSpPr>
          <p:cNvPr id="202" name="Google Shape;202;p33"/>
          <p:cNvSpPr txBox="1"/>
          <p:nvPr/>
        </p:nvSpPr>
        <p:spPr>
          <a:xfrm>
            <a:off x="609904" y="1783080"/>
            <a:ext cx="3383400" cy="10515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5,000+</a:t>
            </a:r>
            <a:endParaRPr b="1" sz="50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609904" y="2880360"/>
            <a:ext cx="3383400" cy="868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customers governing AI</a:t>
            </a:r>
            <a:endParaRPr sz="13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through the gateway</a:t>
            </a:r>
            <a:endParaRPr sz="13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4" name="Google Shape;204;p33"/>
          <p:cNvSpPr txBox="1"/>
          <p:nvPr/>
        </p:nvSpPr>
        <p:spPr>
          <a:xfrm>
            <a:off x="4404664" y="1783080"/>
            <a:ext cx="3383400" cy="10515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3620"/>
                </a:solidFill>
                <a:latin typeface="DM Sans"/>
                <a:ea typeface="DM Sans"/>
                <a:cs typeface="DM Sans"/>
                <a:sym typeface="DM Sans"/>
              </a:rPr>
              <a:t>50T+</a:t>
            </a:r>
            <a:endParaRPr b="1" sz="5000">
              <a:solidFill>
                <a:srgbClr val="FF36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4404664" y="2880360"/>
            <a:ext cx="3383400" cy="868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tokens per week,</a:t>
            </a:r>
            <a:endParaRPr sz="13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in production</a:t>
            </a:r>
            <a:endParaRPr sz="13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8199424" y="1783080"/>
            <a:ext cx="3383400" cy="10515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B378"/>
                </a:solidFill>
                <a:latin typeface="DM Sans"/>
                <a:ea typeface="DM Sans"/>
                <a:cs typeface="DM Sans"/>
                <a:sym typeface="DM Sans"/>
              </a:rPr>
              <a:t>Leader</a:t>
            </a:r>
            <a:endParaRPr b="1" sz="5000">
              <a:solidFill>
                <a:srgbClr val="00B37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8199424" y="2880360"/>
            <a:ext cx="3383400" cy="868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Gartner 2026 Magic Quadrant</a:t>
            </a:r>
            <a:endParaRPr sz="13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(Data Science &amp; ML)</a:t>
            </a:r>
            <a:endParaRPr sz="13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33"/>
          <p:cNvSpPr txBox="1"/>
          <p:nvPr/>
        </p:nvSpPr>
        <p:spPr>
          <a:xfrm>
            <a:off x="1280160" y="4160520"/>
            <a:ext cx="9601200" cy="12345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“Handled our production scale of &gt;100B tokens/month with no availability issues, while giving us visibility into AI spend and user-level controls.”</a:t>
            </a:r>
            <a:endParaRPr sz="16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1280160" y="5440680"/>
            <a:ext cx="9601200" cy="411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28793"/>
                </a:solidFill>
                <a:latin typeface="DM Sans"/>
                <a:ea typeface="DM Sans"/>
                <a:cs typeface="DM Sans"/>
                <a:sym typeface="DM Sans"/>
              </a:rPr>
              <a:t>Sriram Ravichandran, Technical Lead, Zepto</a:t>
            </a:r>
            <a:endParaRPr b="1" sz="1200">
              <a:solidFill>
                <a:srgbClr val="62879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460980" y="2766218"/>
            <a:ext cx="108927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Control Surfaces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Surfaces at a Glance</a:t>
            </a:r>
            <a:endParaRPr/>
          </a:p>
        </p:txBody>
      </p:sp>
      <p:sp>
        <p:nvSpPr>
          <p:cNvPr id="222" name="Google Shape;222;p35"/>
          <p:cNvSpPr/>
          <p:nvPr/>
        </p:nvSpPr>
        <p:spPr>
          <a:xfrm>
            <a:off x="609904" y="2011680"/>
            <a:ext cx="20118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3" name="Google Shape;223;p35"/>
          <p:cNvSpPr/>
          <p:nvPr/>
        </p:nvSpPr>
        <p:spPr>
          <a:xfrm>
            <a:off x="1341424" y="2286000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35"/>
          <p:cNvSpPr txBox="1"/>
          <p:nvPr/>
        </p:nvSpPr>
        <p:spPr>
          <a:xfrm>
            <a:off x="701344" y="297180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ACCESS</a:t>
            </a:r>
            <a:endParaRPr b="1" sz="15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774496" y="3474720"/>
            <a:ext cx="16824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Who can call a model: a Unity Catalog grant </a:t>
            </a: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(EXECUTE), not a shared key</a:t>
            </a:r>
            <a:endParaRPr sz="11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2850184" y="2011680"/>
            <a:ext cx="20118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7" name="Google Shape;227;p35"/>
          <p:cNvSpPr/>
          <p:nvPr/>
        </p:nvSpPr>
        <p:spPr>
          <a:xfrm>
            <a:off x="3581704" y="2286000"/>
            <a:ext cx="548700" cy="548700"/>
          </a:xfrm>
          <a:prstGeom prst="ellipse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35"/>
          <p:cNvSpPr txBox="1"/>
          <p:nvPr/>
        </p:nvSpPr>
        <p:spPr>
          <a:xfrm>
            <a:off x="2941624" y="297180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B378"/>
                </a:solidFill>
                <a:latin typeface="DM Sans"/>
                <a:ea typeface="DM Sans"/>
                <a:cs typeface="DM Sans"/>
                <a:sym typeface="DM Sans"/>
              </a:rPr>
              <a:t>RUNTIME</a:t>
            </a:r>
            <a:endParaRPr b="1" sz="1500">
              <a:solidFill>
                <a:srgbClr val="00B37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3014776" y="3474720"/>
            <a:ext cx="16824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Rate limits and traffic routing, enforced centrally at the gateway</a:t>
            </a:r>
            <a:endParaRPr sz="11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35"/>
          <p:cNvSpPr/>
          <p:nvPr/>
        </p:nvSpPr>
        <p:spPr>
          <a:xfrm>
            <a:off x="5090464" y="2011680"/>
            <a:ext cx="20118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231;p35"/>
          <p:cNvSpPr/>
          <p:nvPr/>
        </p:nvSpPr>
        <p:spPr>
          <a:xfrm>
            <a:off x="5821984" y="2286000"/>
            <a:ext cx="548700" cy="548700"/>
          </a:xfrm>
          <a:prstGeom prst="ellipse">
            <a:avLst/>
          </a:prstGeom>
          <a:solidFill>
            <a:srgbClr val="FF3620"/>
          </a:solidFill>
          <a:ln cap="flat" cmpd="sng" w="3175">
            <a:solidFill>
              <a:srgbClr val="FF3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5181904" y="297180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3620"/>
                </a:solidFill>
                <a:latin typeface="DM Sans"/>
                <a:ea typeface="DM Sans"/>
                <a:cs typeface="DM Sans"/>
                <a:sym typeface="DM Sans"/>
              </a:rPr>
              <a:t>POLICY</a:t>
            </a:r>
            <a:endParaRPr b="1" sz="1500">
              <a:solidFill>
                <a:srgbClr val="FF36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5255056" y="3474720"/>
            <a:ext cx="16824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PII and safety guardrails: </a:t>
            </a: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allow, redact, ask, or block on every call</a:t>
            </a:r>
            <a:endParaRPr sz="11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35"/>
          <p:cNvSpPr/>
          <p:nvPr/>
        </p:nvSpPr>
        <p:spPr>
          <a:xfrm>
            <a:off x="7330744" y="2011680"/>
            <a:ext cx="20118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" name="Google Shape;235;p35"/>
          <p:cNvSpPr/>
          <p:nvPr/>
        </p:nvSpPr>
        <p:spPr>
          <a:xfrm>
            <a:off x="8062264" y="2286000"/>
            <a:ext cx="548700" cy="548700"/>
          </a:xfrm>
          <a:prstGeom prst="ellipse">
            <a:avLst/>
          </a:prstGeom>
          <a:solidFill>
            <a:srgbClr val="FFAB00"/>
          </a:solidFill>
          <a:ln cap="flat" cmpd="sng" w="3175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1" sz="20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7422184" y="297180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AB00"/>
                </a:solidFill>
                <a:latin typeface="DM Sans"/>
                <a:ea typeface="DM Sans"/>
                <a:cs typeface="DM Sans"/>
                <a:sym typeface="DM Sans"/>
              </a:rPr>
              <a:t>EVIDENCE</a:t>
            </a:r>
            <a:endParaRPr b="1" sz="1500">
              <a:solidFill>
                <a:srgbClr val="FFAB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7495336" y="3474720"/>
            <a:ext cx="16824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Full request and response logging, usage, and latency to Delta</a:t>
            </a:r>
            <a:endParaRPr sz="11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9571024" y="2011680"/>
            <a:ext cx="20118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10302544" y="2286000"/>
            <a:ext cx="548700" cy="548700"/>
          </a:xfrm>
          <a:prstGeom prst="ellipse">
            <a:avLst/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1" sz="2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9662464" y="297180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28793"/>
                </a:solidFill>
                <a:latin typeface="DM Sans"/>
                <a:ea typeface="DM Sans"/>
                <a:cs typeface="DM Sans"/>
                <a:sym typeface="DM Sans"/>
              </a:rPr>
              <a:t>COST</a:t>
            </a:r>
            <a:endParaRPr b="1" sz="1500">
              <a:solidFill>
                <a:srgbClr val="62879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9735616" y="3474720"/>
            <a:ext cx="16824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Spend visibility by model, user, and day, with budgets</a:t>
            </a:r>
            <a:endParaRPr sz="11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460979" y="184945"/>
            <a:ext cx="11259900" cy="992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Access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460979" y="2136530"/>
            <a:ext cx="11259900" cy="404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Calling a model is a Unity Catalog permission </a:t>
            </a:r>
            <a:r>
              <a:rPr lang="en-US"/>
              <a:t>(EXECUTE), not a shared key</a:t>
            </a:r>
            <a:r>
              <a:rPr lang="en-US"/>
              <a:t> or a firewall rule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Grant and revoke are instant and audited -- no key rotation, no redeploy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Works for users, groups, and service principals -- </a:t>
            </a:r>
            <a:r>
              <a:rPr lang="en-US"/>
              <a:t>the identities that already govern the data</a:t>
            </a:r>
            <a:endParaRPr/>
          </a:p>
        </p:txBody>
      </p:sp>
      <p:sp>
        <p:nvSpPr>
          <p:cNvPr id="249" name="Google Shape;249;p36"/>
          <p:cNvSpPr txBox="1"/>
          <p:nvPr>
            <p:ph idx="2" type="body"/>
          </p:nvPr>
        </p:nvSpPr>
        <p:spPr>
          <a:xfrm>
            <a:off x="460375" y="1177132"/>
            <a:ext cx="11270700" cy="6426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is allowed to call a model</a:t>
            </a:r>
            <a:endParaRPr/>
          </a:p>
        </p:txBody>
      </p:sp>
      <p:sp>
        <p:nvSpPr>
          <p:cNvPr id="250" name="Google Shape;250;p36"/>
          <p:cNvSpPr/>
          <p:nvPr/>
        </p:nvSpPr>
        <p:spPr>
          <a:xfrm>
            <a:off x="274320" y="566928"/>
            <a:ext cx="100500" cy="868800"/>
          </a:xfrm>
          <a:prstGeom prst="rect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460979" y="184945"/>
            <a:ext cx="11259900" cy="992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Runtime</a:t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460979" y="2136530"/>
            <a:ext cx="11259900" cy="404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Per-endpoint, per-user, and per-service rate limits (requests/min and tokens/min), enforced with real HTTP 429 on BOTH the legacy endpoint and the UC model service. Rate limiting is not the differentiator; UC-native governance and lifecycle are.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Split traffic across models or providers for A/B and canary rollout, with full provider abstraction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Swap or add models behind one endpoint with no app change; fallback across models where the entity type supports it</a:t>
            </a:r>
            <a:endParaRPr/>
          </a:p>
        </p:txBody>
      </p:sp>
      <p:sp>
        <p:nvSpPr>
          <p:cNvPr id="258" name="Google Shape;258;p37"/>
          <p:cNvSpPr txBox="1"/>
          <p:nvPr>
            <p:ph idx="2" type="body"/>
          </p:nvPr>
        </p:nvSpPr>
        <p:spPr>
          <a:xfrm>
            <a:off x="460375" y="1177132"/>
            <a:ext cx="11270700" cy="6426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Rate limits and traffic routing</a:t>
            </a:r>
            <a:endParaRPr/>
          </a:p>
        </p:txBody>
      </p:sp>
      <p:sp>
        <p:nvSpPr>
          <p:cNvPr id="259" name="Google Shape;259;p37"/>
          <p:cNvSpPr/>
          <p:nvPr/>
        </p:nvSpPr>
        <p:spPr>
          <a:xfrm>
            <a:off x="274320" y="566928"/>
            <a:ext cx="100500" cy="868800"/>
          </a:xfrm>
          <a:prstGeom prst="rect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>
            <p:ph type="title"/>
          </p:nvPr>
        </p:nvSpPr>
        <p:spPr>
          <a:xfrm>
            <a:off x="460979" y="184945"/>
            <a:ext cx="11259900" cy="992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Policy</a:t>
            </a:r>
            <a:endParaRPr/>
          </a:p>
        </p:txBody>
      </p:sp>
      <p:sp>
        <p:nvSpPr>
          <p:cNvPr id="266" name="Google Shape;266;p38"/>
          <p:cNvSpPr txBox="1"/>
          <p:nvPr>
            <p:ph idx="1" type="body"/>
          </p:nvPr>
        </p:nvSpPr>
        <p:spPr>
          <a:xfrm>
            <a:off x="460979" y="2136530"/>
            <a:ext cx="11259900" cy="404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Every request gets one real-time decision -- allow, redact (mask PII), require approval, or block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Evaluated before the call and after the response: PII (detect_sensitive_data), unsafe content (block_unsafe_content), jailbreak (block_jailbreak), hallucination (block_hallucination)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Attached per service today (UI); catalog-wide / ABAC binding is on the roadmap (Beta)</a:t>
            </a:r>
            <a:endParaRPr/>
          </a:p>
        </p:txBody>
      </p:sp>
      <p:sp>
        <p:nvSpPr>
          <p:cNvPr id="267" name="Google Shape;267;p38"/>
          <p:cNvSpPr txBox="1"/>
          <p:nvPr>
            <p:ph idx="2" type="body"/>
          </p:nvPr>
        </p:nvSpPr>
        <p:spPr>
          <a:xfrm>
            <a:off x="460375" y="1177132"/>
            <a:ext cx="11270700" cy="6426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PII and safety guardrails</a:t>
            </a:r>
            <a:endParaRPr/>
          </a:p>
        </p:txBody>
      </p:sp>
      <p:sp>
        <p:nvSpPr>
          <p:cNvPr id="268" name="Google Shape;268;p38"/>
          <p:cNvSpPr/>
          <p:nvPr/>
        </p:nvSpPr>
        <p:spPr>
          <a:xfrm>
            <a:off x="274320" y="566928"/>
            <a:ext cx="100500" cy="868800"/>
          </a:xfrm>
          <a:prstGeom prst="rect">
            <a:avLst/>
          </a:prstGeom>
          <a:solidFill>
            <a:srgbClr val="FF3620"/>
          </a:solidFill>
          <a:ln cap="flat" cmpd="sng" w="3175">
            <a:solidFill>
              <a:srgbClr val="FF3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460979" y="184945"/>
            <a:ext cx="11259900" cy="992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</a:t>
            </a:r>
            <a:endParaRPr/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460979" y="2136530"/>
            <a:ext cx="11259900" cy="404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Inference tables capture full request and response payloads to Delta (asynchronous; ~10 min ingestion lag)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Usage and system tables record tokens, latency, and the calling identity per model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Every governed call is auditable -- with no application code changes</a:t>
            </a:r>
            <a:endParaRPr/>
          </a:p>
        </p:txBody>
      </p:sp>
      <p:sp>
        <p:nvSpPr>
          <p:cNvPr id="276" name="Google Shape;276;p39"/>
          <p:cNvSpPr txBox="1"/>
          <p:nvPr>
            <p:ph idx="2" type="body"/>
          </p:nvPr>
        </p:nvSpPr>
        <p:spPr>
          <a:xfrm>
            <a:off x="460375" y="1177132"/>
            <a:ext cx="11270700" cy="6426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Full logging, usage, and latency</a:t>
            </a:r>
            <a:endParaRPr/>
          </a:p>
        </p:txBody>
      </p:sp>
      <p:sp>
        <p:nvSpPr>
          <p:cNvPr id="277" name="Google Shape;277;p39"/>
          <p:cNvSpPr/>
          <p:nvPr/>
        </p:nvSpPr>
        <p:spPr>
          <a:xfrm>
            <a:off x="274320" y="566928"/>
            <a:ext cx="100500" cy="868800"/>
          </a:xfrm>
          <a:prstGeom prst="rect">
            <a:avLst/>
          </a:prstGeom>
          <a:solidFill>
            <a:srgbClr val="FFAB00"/>
          </a:solidFill>
          <a:ln cap="flat" cmpd="sng" w="3175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460979" y="184945"/>
            <a:ext cx="11259900" cy="992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</a:t>
            </a:r>
            <a:endParaRPr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460979" y="2136530"/>
            <a:ext cx="11259900" cy="404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Two levers: rate limits throttle calls/tokens per interval; budgets cap actual dollars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Budgets cap $ by scope (account, workspace, Unity AI Gateway, or endpoint tags), shared + per-user, alert then hard-block (GA; account-admin)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Spend visibility via system.billing.usage; external-provider spend is estimated</a:t>
            </a:r>
            <a:endParaRPr/>
          </a:p>
        </p:txBody>
      </p:sp>
      <p:sp>
        <p:nvSpPr>
          <p:cNvPr id="285" name="Google Shape;285;p40"/>
          <p:cNvSpPr txBox="1"/>
          <p:nvPr>
            <p:ph idx="2" type="body"/>
          </p:nvPr>
        </p:nvSpPr>
        <p:spPr>
          <a:xfrm>
            <a:off x="460375" y="1177132"/>
            <a:ext cx="11270700" cy="6426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Spend visibility and budgets</a:t>
            </a:r>
            <a:endParaRPr/>
          </a:p>
        </p:txBody>
      </p:sp>
      <p:sp>
        <p:nvSpPr>
          <p:cNvPr id="286" name="Google Shape;286;p40"/>
          <p:cNvSpPr/>
          <p:nvPr/>
        </p:nvSpPr>
        <p:spPr>
          <a:xfrm>
            <a:off x="274320" y="566928"/>
            <a:ext cx="100500" cy="868800"/>
          </a:xfrm>
          <a:prstGeom prst="rect">
            <a:avLst/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>
            <p:ph type="title"/>
          </p:nvPr>
        </p:nvSpPr>
        <p:spPr>
          <a:xfrm>
            <a:off x="460980" y="2766218"/>
            <a:ext cx="108927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Putting It Into 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Serving Endpoint vs Model Service</a:t>
            </a:r>
            <a:endParaRPr/>
          </a:p>
        </p:txBody>
      </p:sp>
      <p:sp>
        <p:nvSpPr>
          <p:cNvPr id="299" name="Google Shape;299;p42"/>
          <p:cNvSpPr/>
          <p:nvPr/>
        </p:nvSpPr>
        <p:spPr>
          <a:xfrm>
            <a:off x="5632704" y="1554480"/>
            <a:ext cx="932700" cy="4617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0" name="Google Shape;300;p42"/>
          <p:cNvSpPr/>
          <p:nvPr/>
        </p:nvSpPr>
        <p:spPr>
          <a:xfrm>
            <a:off x="609904" y="1691640"/>
            <a:ext cx="4983600" cy="43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1" name="Google Shape;301;p42"/>
          <p:cNvSpPr/>
          <p:nvPr/>
        </p:nvSpPr>
        <p:spPr>
          <a:xfrm>
            <a:off x="609904" y="1691640"/>
            <a:ext cx="4983600" cy="932700"/>
          </a:xfrm>
          <a:prstGeom prst="roundRect">
            <a:avLst>
              <a:gd fmla="val 16667" name="adj"/>
            </a:avLst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2" name="Google Shape;302;p42"/>
          <p:cNvSpPr txBox="1"/>
          <p:nvPr/>
        </p:nvSpPr>
        <p:spPr>
          <a:xfrm>
            <a:off x="792784" y="1801368"/>
            <a:ext cx="4617600" cy="457200"/>
          </a:xfrm>
          <a:prstGeom prst="rect">
            <a:avLst/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Serving endpoint</a:t>
            </a:r>
            <a:endParaRPr b="1"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792784" y="2258568"/>
            <a:ext cx="4617600" cy="310800"/>
          </a:xfrm>
          <a:prstGeom prst="rect">
            <a:avLst/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Gateway config · GA, being deprecated (legacy v1/v2)</a:t>
            </a:r>
            <a:endParaRPr sz="10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865936" y="2788920"/>
            <a:ext cx="4471500" cy="3063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</a:t>
            </a: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Overlaid on a serving endpoint already in use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Rate limits, inference tables, usage, guardrails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Traffic split and fallback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Best for existing endpoints, or types not yet covered (custom, provisioned throughput)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Legacy path, being retired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42"/>
          <p:cNvSpPr/>
          <p:nvPr/>
        </p:nvSpPr>
        <p:spPr>
          <a:xfrm>
            <a:off x="6601968" y="1691640"/>
            <a:ext cx="4983600" cy="43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6" name="Google Shape;306;p42"/>
          <p:cNvSpPr/>
          <p:nvPr/>
        </p:nvSpPr>
        <p:spPr>
          <a:xfrm>
            <a:off x="6601968" y="1691640"/>
            <a:ext cx="4983600" cy="932700"/>
          </a:xfrm>
          <a:prstGeom prst="roundRect">
            <a:avLst>
              <a:gd fmla="val 16667" name="adj"/>
            </a:avLst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6784848" y="1801368"/>
            <a:ext cx="4617600" cy="457200"/>
          </a:xfrm>
          <a:prstGeom prst="rect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Unity AI Gateway model service</a:t>
            </a:r>
            <a:endParaRPr b="1"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42"/>
          <p:cNvSpPr txBox="1"/>
          <p:nvPr/>
        </p:nvSpPr>
        <p:spPr>
          <a:xfrm>
            <a:off x="6784848" y="2258568"/>
            <a:ext cx="4617600" cy="310800"/>
          </a:xfrm>
          <a:prstGeom prst="rect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UC securable · GA (v3)</a:t>
            </a:r>
            <a:endParaRPr sz="10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42"/>
          <p:cNvSpPr txBox="1"/>
          <p:nvPr/>
        </p:nvSpPr>
        <p:spPr>
          <a:xfrm>
            <a:off x="6858000" y="2788920"/>
            <a:ext cx="4471500" cy="3063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A Unity Catalog securable that governs a model API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Service policies + UC grants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Reusable across workspaces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The strategic direction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</a:t>
            </a: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Start everything new here.  Decision rule: existing endpoint or a type not yet covered -&gt; use the overlay; new work -&gt; use the model service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42"/>
          <p:cNvSpPr/>
          <p:nvPr/>
        </p:nvSpPr>
        <p:spPr>
          <a:xfrm>
            <a:off x="5779008" y="3520440"/>
            <a:ext cx="640200" cy="640200"/>
          </a:xfrm>
          <a:prstGeom prst="ellipse">
            <a:avLst/>
          </a:prstGeom>
          <a:solidFill>
            <a:srgbClr val="1B3037"/>
          </a:solidFill>
          <a:ln cap="flat" cmpd="sng" w="3175">
            <a:solidFill>
              <a:srgbClr val="1B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vs</a:t>
            </a:r>
            <a:endParaRPr b="1" sz="13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Generations of the AI Gateway</a:t>
            </a:r>
            <a:endParaRPr/>
          </a:p>
        </p:txBody>
      </p:sp>
      <p:graphicFrame>
        <p:nvGraphicFramePr>
          <p:cNvPr id="317" name="Google Shape;317;p43"/>
          <p:cNvGraphicFramePr/>
          <p:nvPr/>
        </p:nvGraphicFramePr>
        <p:xfrm>
          <a:off x="457200" y="15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{773429D0-432C-4C25-A34E-7CA050955F23}</a:tableStyleId>
              </a:tblPr>
              <a:tblGrid>
                <a:gridCol w="2400000"/>
                <a:gridCol w="2959200"/>
                <a:gridCol w="2959200"/>
                <a:gridCol w="2959200"/>
              </a:tblGrid>
              <a:tr h="2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v1  (legacy)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v2  (interim)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v3  (strategic)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Construct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AI Gateway on Serving Endpoints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Unity AI Gateway on Workspace Models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Unity AI Gateway on UC Model Services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2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Status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GA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Beta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GA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2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Trajectory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Deprecating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Retiring first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Strategic - invest here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8" name="Google Shape;318;p43"/>
          <p:cNvSpPr txBox="1"/>
          <p:nvPr/>
        </p:nvSpPr>
        <p:spPr>
          <a:xfrm>
            <a:off x="3300000" y="6480000"/>
            <a:ext cx="8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618793"/>
                </a:solidFill>
                <a:latin typeface="Barlow"/>
                <a:ea typeface="Barlow"/>
                <a:cs typeface="Barlow"/>
                <a:sym typeface="Barlow"/>
              </a:rPr>
              <a:t>Beta items and deprecation dates subject to change. Verify against current Databricks documentation.</a:t>
            </a:r>
            <a:endParaRPr i="1" sz="800">
              <a:solidFill>
                <a:srgbClr val="61879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Each Generation Governs</a:t>
            </a:r>
            <a:endParaRPr/>
          </a:p>
        </p:txBody>
      </p:sp>
      <p:graphicFrame>
        <p:nvGraphicFramePr>
          <p:cNvPr id="325" name="Google Shape;325;p44"/>
          <p:cNvGraphicFramePr/>
          <p:nvPr/>
        </p:nvGraphicFramePr>
        <p:xfrm>
          <a:off x="457200" y="15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{773429D0-432C-4C25-A34E-7CA050955F23}</a:tableStyleId>
              </a:tblPr>
              <a:tblGrid>
                <a:gridCol w="2400000"/>
                <a:gridCol w="2959200"/>
                <a:gridCol w="2959200"/>
                <a:gridCol w="2959200"/>
              </a:tblGrid>
              <a:tr h="2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v1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v2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v3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Governs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Serving endpoints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Workspace models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UC model services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Name / reference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Endpoint name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Workspace model name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UC FQN: catalog.schema.service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Invocation path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/serving-endpoints/{name}/invocations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Workspace model serving (Beta)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/ai-gateway/mlflow/v1 (DatabricksOpenAI / OpenAI client)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2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Governance model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Endpoint ACL (CAN_QUERY) + inline guardrails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Workspace-scoped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UC-native: EXECUTE grants + service policies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6" name="Google Shape;326;p44"/>
          <p:cNvSpPr txBox="1"/>
          <p:nvPr/>
        </p:nvSpPr>
        <p:spPr>
          <a:xfrm>
            <a:off x="3300000" y="6480000"/>
            <a:ext cx="8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618793"/>
                </a:solidFill>
                <a:latin typeface="Barlow"/>
                <a:ea typeface="Barlow"/>
                <a:cs typeface="Barlow"/>
                <a:sym typeface="Barlow"/>
              </a:rPr>
              <a:t>Beta items and deprecation dates subject to change. Verify against current Databricks documentation.</a:t>
            </a:r>
            <a:endParaRPr i="1" sz="800">
              <a:solidFill>
                <a:srgbClr val="61879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Calling the Model: Same Governance, Any Client</a:t>
            </a:r>
            <a:endParaRPr/>
          </a:p>
        </p:txBody>
      </p:sp>
      <p:sp>
        <p:nvSpPr>
          <p:cNvPr id="333" name="Google Shape;333;p45"/>
          <p:cNvSpPr txBox="1"/>
          <p:nvPr/>
        </p:nvSpPr>
        <p:spPr>
          <a:xfrm>
            <a:off x="3300000" y="6480000"/>
            <a:ext cx="8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618793"/>
                </a:solidFill>
                <a:latin typeface="Barlow"/>
                <a:ea typeface="Barlow"/>
                <a:cs typeface="Barlow"/>
                <a:sym typeface="Barlow"/>
              </a:rPr>
              <a:t>Beta items and deprecation dates subject to change. Verify against current Databricks documentation.</a:t>
            </a:r>
            <a:endParaRPr i="1" sz="800">
              <a:solidFill>
                <a:srgbClr val="61879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334" name="Google Shape;334;p45"/>
          <p:cNvGraphicFramePr/>
          <p:nvPr/>
        </p:nvGraphicFramePr>
        <p:xfrm>
          <a:off x="457200" y="15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{773429D0-432C-4C25-A34E-7CA050955F23}</a:tableStyleId>
              </a:tblPr>
              <a:tblGrid>
                <a:gridCol w="4400000"/>
                <a:gridCol w="3438800"/>
                <a:gridCol w="3438800"/>
              </a:tblGrid>
              <a:tr h="1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Method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v1  Serving endpoint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v3  Model service</a:t>
                      </a:r>
                      <a:endParaRPr b="1" sz="1200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1B5161"/>
                    </a:solidFill>
                  </a:tcPr>
                </a:tc>
              </a:tr>
              <a:tr h="1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SQL (ai_query)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Beta / roadmap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1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Python SDK (serving_endpoints.query)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No (use client)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1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Python client (DatabricksOpenAI)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Yes (today)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1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Python REST (/ai-gateway/mlflow/v1)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Yes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Yes (today)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1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Guardrails + rate limits</a:t>
                      </a:r>
                      <a:endParaRPr b="1"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Enforced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B3037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Enforced</a:t>
                      </a:r>
                      <a:endParaRPr sz="1100">
                        <a:solidFill>
                          <a:srgbClr val="1B3037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5" name="Google Shape;335;p45"/>
          <p:cNvSpPr txBox="1"/>
          <p:nvPr/>
        </p:nvSpPr>
        <p:spPr>
          <a:xfrm>
            <a:off x="457200" y="4350000"/>
            <a:ext cx="11277600" cy="12999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B3037"/>
                </a:solidFill>
                <a:latin typeface="Barlow"/>
                <a:ea typeface="Barlow"/>
                <a:cs typeface="Barlow"/>
                <a:sym typeface="Barlow"/>
              </a:rPr>
              <a:t>Enforcement lives at the gateway, not the client. For a governed serving endpoint, guardrails and rate limits fire identically from SQL, the SDK, or REST (verified live in notebook 06). Caveat: ai_query batch against system.ai model APIs applies usage tracking only, not guardrails or policies. (v2 omitted here: retiring.)</a:t>
            </a:r>
            <a:endParaRPr sz="1100">
              <a:solidFill>
                <a:srgbClr val="1B3037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Path Do I Use?</a:t>
            </a:r>
            <a:endParaRPr/>
          </a:p>
        </p:txBody>
      </p:sp>
      <p:sp>
        <p:nvSpPr>
          <p:cNvPr id="342" name="Google Shape;342;p46"/>
          <p:cNvSpPr txBox="1"/>
          <p:nvPr>
            <p:ph idx="1" type="body"/>
          </p:nvPr>
        </p:nvSpPr>
        <p:spPr>
          <a:xfrm>
            <a:off x="460979" y="1585913"/>
            <a:ext cx="11259900" cy="45909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Default to v3 (UC model service): UC-native EXECUTE grants + service policies. </a:t>
            </a:r>
            <a:r>
              <a:rPr lang="en-US"/>
              <a:t>Call via the DatabricksOpenAI client or REST today.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Need SQL/SDK-native access now? Use a v1 governed serving endpoint - full guardrails, rate limits, usage tracking, logging.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Skip v2 (Beta, retiring first): a stepping stone, not a destination.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Lock the front door: Enforce Unity AI Gateway disables v1 + v2, routing all traffic to v3.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Same core enforcement everywhere - the choice is governance model and lifecycle, not runtime features.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Governing the Default Foundation Models</a:t>
            </a:r>
            <a:endParaRPr/>
          </a:p>
        </p:txBody>
      </p:sp>
      <p:sp>
        <p:nvSpPr>
          <p:cNvPr id="349" name="Google Shape;349;p47"/>
          <p:cNvSpPr/>
          <p:nvPr/>
        </p:nvSpPr>
        <p:spPr>
          <a:xfrm>
            <a:off x="914400" y="2331720"/>
            <a:ext cx="31089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2194560" y="2587752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1024128" y="3246120"/>
            <a:ext cx="28896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Revoke the default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1097280" y="3749039"/>
            <a:ext cx="2743200" cy="10059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Remove account users' EXECUTE + USE SCHEMA on system.ai; grant them to the platform team only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47"/>
          <p:cNvSpPr/>
          <p:nvPr/>
        </p:nvSpPr>
        <p:spPr>
          <a:xfrm>
            <a:off x="4572000" y="2331720"/>
            <a:ext cx="31089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4" name="Google Shape;354;p47"/>
          <p:cNvSpPr/>
          <p:nvPr/>
        </p:nvSpPr>
        <p:spPr>
          <a:xfrm>
            <a:off x="5852160" y="2587752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47"/>
          <p:cNvSpPr txBox="1"/>
          <p:nvPr/>
        </p:nvSpPr>
        <p:spPr>
          <a:xfrm>
            <a:off x="4681728" y="3246120"/>
            <a:ext cx="28896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Front with a governed service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4754880" y="3749039"/>
            <a:ext cx="2743200" cy="10059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Create model service(s) routing to the FM, with rate limits + service policies (per-group quotas)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7" name="Google Shape;357;p47"/>
          <p:cNvSpPr/>
          <p:nvPr/>
        </p:nvSpPr>
        <p:spPr>
          <a:xfrm>
            <a:off x="8229600" y="2331720"/>
            <a:ext cx="31089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8" name="Google Shape;358;p47"/>
          <p:cNvSpPr/>
          <p:nvPr/>
        </p:nvSpPr>
        <p:spPr>
          <a:xfrm>
            <a:off x="9509760" y="2587752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8339327" y="3246120"/>
            <a:ext cx="28896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Grant EXECUTE on the service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8412480" y="3749039"/>
            <a:ext cx="2743200" cy="10059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Callers use the governed service by name</a:t>
            </a: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; the direct path stays closed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1" name="Google Shape;361;p47"/>
          <p:cNvSpPr/>
          <p:nvPr/>
        </p:nvSpPr>
        <p:spPr>
          <a:xfrm>
            <a:off x="4114800" y="3406139"/>
            <a:ext cx="457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ABB"/>
          </a:solidFill>
          <a:ln cap="flat" cmpd="sng" w="3175">
            <a:solidFill>
              <a:srgbClr val="A0AA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2" name="Google Shape;362;p47"/>
          <p:cNvSpPr/>
          <p:nvPr/>
        </p:nvSpPr>
        <p:spPr>
          <a:xfrm>
            <a:off x="7772400" y="3406139"/>
            <a:ext cx="457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ABB"/>
          </a:solidFill>
          <a:ln cap="flat" cmpd="sng" w="3175">
            <a:solidFill>
              <a:srgbClr val="A0AA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914400" y="5257800"/>
            <a:ext cx="10424100" cy="822900"/>
          </a:xfrm>
          <a:prstGeom prst="rect">
            <a:avLst/>
          </a:prstGeom>
          <a:solidFill>
            <a:srgbClr val="F1F1F1"/>
          </a:solidFill>
          <a:ln cap="flat" cmpd="sng" w="31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The canonical lever is the workspace “Enforce Unity AI Gateway” setting (opt-in): it disables legacy direct-serving paths so all traffic uses UC model services. Complement with least-privilege EXECUTE grants and, at the account level, setting FM rate limits to 0.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Enforce Unity AI Gateway: Close the Bypass</a:t>
            </a:r>
            <a:endParaRPr/>
          </a:p>
        </p:txBody>
      </p:sp>
      <p:sp>
        <p:nvSpPr>
          <p:cNvPr id="370" name="Google Shape;370;p48"/>
          <p:cNvSpPr/>
          <p:nvPr/>
        </p:nvSpPr>
        <p:spPr>
          <a:xfrm>
            <a:off x="914400" y="2331720"/>
            <a:ext cx="31089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1" name="Google Shape;371;p48"/>
          <p:cNvSpPr/>
          <p:nvPr/>
        </p:nvSpPr>
        <p:spPr>
          <a:xfrm>
            <a:off x="2194560" y="2587752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2" name="Google Shape;372;p48"/>
          <p:cNvSpPr txBox="1"/>
          <p:nvPr/>
        </p:nvSpPr>
        <p:spPr>
          <a:xfrm>
            <a:off x="1024128" y="3246120"/>
            <a:ext cx="28896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Migrate traffic first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3" name="Google Shape;373;p48"/>
          <p:cNvSpPr txBox="1"/>
          <p:nvPr/>
        </p:nvSpPr>
        <p:spPr>
          <a:xfrm>
            <a:off x="1097280" y="3749039"/>
            <a:ext cx="2743200" cy="10059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Point apps, ai_query, and SDK / coding-agent clients at UC model services (the /ai-gateway path) before enabling enforcement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4572000" y="2331720"/>
            <a:ext cx="31089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5852160" y="2587752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4681728" y="3246120"/>
            <a:ext cx="28896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Enable Enforce Unity AI Gateway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4754880" y="3749039"/>
            <a:ext cx="2743200" cy="10059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A workspace admin turns on the opt-in setting (early preview); legacy v1/v2 direct-serving is disabled workspace-wide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8229600" y="2331720"/>
            <a:ext cx="31089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9509760" y="2587752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8339327" y="3246120"/>
            <a:ext cx="28896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Bypass closed (Databricks-hosted)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8412480" y="3749039"/>
            <a:ext cx="2743200" cy="10059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Existing Databricks-hosted pay-per-token endpoints are disabled -- all such traffic must flow through governed model services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2" name="Google Shape;382;p48"/>
          <p:cNvSpPr/>
          <p:nvPr/>
        </p:nvSpPr>
        <p:spPr>
          <a:xfrm>
            <a:off x="4114800" y="3406139"/>
            <a:ext cx="457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ABB"/>
          </a:solidFill>
          <a:ln cap="flat" cmpd="sng" w="3175">
            <a:solidFill>
              <a:srgbClr val="A0AA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48"/>
          <p:cNvSpPr/>
          <p:nvPr/>
        </p:nvSpPr>
        <p:spPr>
          <a:xfrm>
            <a:off x="7772400" y="3406139"/>
            <a:ext cx="457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0AABB"/>
          </a:solidFill>
          <a:ln cap="flat" cmpd="sng" w="3175">
            <a:solidFill>
              <a:srgbClr val="A0AA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4" name="Google Shape;384;p48"/>
          <p:cNvSpPr txBox="1"/>
          <p:nvPr/>
        </p:nvSpPr>
        <p:spPr>
          <a:xfrm>
            <a:off x="914400" y="5257800"/>
            <a:ext cx="10424100" cy="822900"/>
          </a:xfrm>
          <a:prstGeom prst="rect">
            <a:avLst/>
          </a:prstGeom>
          <a:solidFill>
            <a:srgbClr val="F1F1F1"/>
          </a:solidFill>
          <a:ln cap="flat" cmpd="sng" w="31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External + provisioned-throughput models: Enforce blocks creating NEW endpoints but leaves existing ones directly queryable -- to stop direct external-provider access, block providers at the network layer (Serverless Egress Gateway / SEG). Opt-in, workspace-scoped (off by default for new workspaces); limitations while products migrate (Apps on a Serving Endpoint resource, ai_query on user-created services, some Vector Search); legacy retirement timelines are subject to change.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GA vs Beta</a:t>
            </a:r>
            <a:endParaRPr/>
          </a:p>
        </p:txBody>
      </p:sp>
      <p:sp>
        <p:nvSpPr>
          <p:cNvPr id="391" name="Google Shape;391;p49"/>
          <p:cNvSpPr/>
          <p:nvPr/>
        </p:nvSpPr>
        <p:spPr>
          <a:xfrm>
            <a:off x="5632704" y="1554480"/>
            <a:ext cx="932700" cy="4617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2" name="Google Shape;392;p49"/>
          <p:cNvSpPr/>
          <p:nvPr/>
        </p:nvSpPr>
        <p:spPr>
          <a:xfrm>
            <a:off x="609904" y="1691640"/>
            <a:ext cx="4983600" cy="43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3" name="Google Shape;393;p49"/>
          <p:cNvSpPr/>
          <p:nvPr/>
        </p:nvSpPr>
        <p:spPr>
          <a:xfrm>
            <a:off x="609904" y="1691640"/>
            <a:ext cx="4983600" cy="932700"/>
          </a:xfrm>
          <a:prstGeom prst="roundRect">
            <a:avLst>
              <a:gd fmla="val 16667" name="adj"/>
            </a:avLst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4" name="Google Shape;394;p49"/>
          <p:cNvSpPr txBox="1"/>
          <p:nvPr/>
        </p:nvSpPr>
        <p:spPr>
          <a:xfrm>
            <a:off x="792784" y="1801368"/>
            <a:ext cx="4617600" cy="457200"/>
          </a:xfrm>
          <a:prstGeom prst="rect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Generally Available</a:t>
            </a:r>
            <a:endParaRPr b="1"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49"/>
          <p:cNvSpPr txBox="1"/>
          <p:nvPr/>
        </p:nvSpPr>
        <p:spPr>
          <a:xfrm>
            <a:off x="792784" y="2258568"/>
            <a:ext cx="4617600" cy="310800"/>
          </a:xfrm>
          <a:prstGeom prst="rect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Legacy path (v1/v2): GA but being deprecated</a:t>
            </a:r>
            <a:endParaRPr sz="10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49"/>
          <p:cNvSpPr txBox="1"/>
          <p:nvPr/>
        </p:nvSpPr>
        <p:spPr>
          <a:xfrm>
            <a:off x="865936" y="2788920"/>
            <a:ext cx="4471500" cy="3063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Model Serving endpoint + AI Gateway config (legacy, deprecating)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Rate limits (both paths enforce 429)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Inference tables, usage tracking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Budgets ($ spend caps; account-admin) -- not on FEVM demo accounts; excludes PT/external usage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49"/>
          <p:cNvSpPr/>
          <p:nvPr/>
        </p:nvSpPr>
        <p:spPr>
          <a:xfrm>
            <a:off x="6601968" y="1691640"/>
            <a:ext cx="4983600" cy="43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8" name="Google Shape;398;p49"/>
          <p:cNvSpPr/>
          <p:nvPr/>
        </p:nvSpPr>
        <p:spPr>
          <a:xfrm>
            <a:off x="6601968" y="1691640"/>
            <a:ext cx="4983600" cy="932700"/>
          </a:xfrm>
          <a:prstGeom prst="roundRect">
            <a:avLst>
              <a:gd fmla="val 16667" name="adj"/>
            </a:avLst>
          </a:prstGeom>
          <a:solidFill>
            <a:srgbClr val="FFAB00"/>
          </a:solidFill>
          <a:ln cap="flat" cmpd="sng" w="3175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9" name="Google Shape;399;p49"/>
          <p:cNvSpPr txBox="1"/>
          <p:nvPr/>
        </p:nvSpPr>
        <p:spPr>
          <a:xfrm>
            <a:off x="6784848" y="1801368"/>
            <a:ext cx="4617600" cy="457200"/>
          </a:xfrm>
          <a:prstGeom prst="rect">
            <a:avLst/>
          </a:prstGeom>
          <a:solidFill>
            <a:srgbClr val="FFAB00"/>
          </a:solidFill>
          <a:ln cap="flat" cmpd="sng" w="3175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Unity AI Gateway (v3): GA</a:t>
            </a:r>
            <a:endParaRPr b="1" sz="16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0" name="Google Shape;400;p49"/>
          <p:cNvSpPr txBox="1"/>
          <p:nvPr/>
        </p:nvSpPr>
        <p:spPr>
          <a:xfrm>
            <a:off x="6784848" y="2258568"/>
            <a:ext cx="4617600" cy="310800"/>
          </a:xfrm>
          <a:prstGeom prst="rect">
            <a:avLst/>
          </a:prstGeom>
          <a:solidFill>
            <a:srgbClr val="FFAB00"/>
          </a:solidFill>
          <a:ln cap="flat" cmpd="sng" w="3175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GA; guardrails + ABAC still Beta; enablement rolling out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1" name="Google Shape;401;p49"/>
          <p:cNvSpPr txBox="1"/>
          <p:nvPr/>
        </p:nvSpPr>
        <p:spPr>
          <a:xfrm>
            <a:off x="6858000" y="2788920"/>
            <a:ext cx="4471500" cy="3063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Unity AI Gateway model service (v3) -- GA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Service policies (attach per service; ABAC binding is Beta)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Guardrails: PII (block or redact), unsafe content, jailbreak (Beta)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•  Availability rolling out; some workspaces enable via account console Previews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457200" y="5900000"/>
            <a:ext cx="11277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808080"/>
                </a:solidFill>
                <a:latin typeface="Barlow"/>
                <a:ea typeface="Barlow"/>
                <a:cs typeface="Barlow"/>
                <a:sym typeface="Barlow"/>
              </a:rPr>
              <a:t>GA/Beta status, enforcement rollout, and legacy-endpoint (v1/v2) deprecation dates are subject to change; verify against current Databricks documentation.</a:t>
            </a:r>
            <a:endParaRPr i="1" sz="900">
              <a:solidFill>
                <a:srgbClr val="80808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0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Owns It</a:t>
            </a:r>
            <a:endParaRPr/>
          </a:p>
        </p:txBody>
      </p:sp>
      <p:sp>
        <p:nvSpPr>
          <p:cNvPr id="409" name="Google Shape;409;p50"/>
          <p:cNvSpPr/>
          <p:nvPr/>
        </p:nvSpPr>
        <p:spPr>
          <a:xfrm>
            <a:off x="609904" y="1965960"/>
            <a:ext cx="20118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0" name="Google Shape;410;p50"/>
          <p:cNvSpPr/>
          <p:nvPr/>
        </p:nvSpPr>
        <p:spPr>
          <a:xfrm>
            <a:off x="1341424" y="2240279"/>
            <a:ext cx="548700" cy="5487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50"/>
          <p:cNvSpPr txBox="1"/>
          <p:nvPr/>
        </p:nvSpPr>
        <p:spPr>
          <a:xfrm>
            <a:off x="683056" y="2926080"/>
            <a:ext cx="18654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5161"/>
                </a:solidFill>
                <a:latin typeface="DM Sans"/>
                <a:ea typeface="DM Sans"/>
                <a:cs typeface="DM Sans"/>
                <a:sym typeface="DM Sans"/>
              </a:rPr>
              <a:t>Account admin</a:t>
            </a:r>
            <a:endParaRPr b="1" sz="1300">
              <a:solidFill>
                <a:srgbClr val="1B516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50"/>
          <p:cNvSpPr txBox="1"/>
          <p:nvPr/>
        </p:nvSpPr>
        <p:spPr>
          <a:xfrm>
            <a:off x="792784" y="3474720"/>
            <a:ext cx="1645800" cy="1737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Enables Unity AI Gateway beta capabilities; sets account-level AI spend budgets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3" name="Google Shape;413;p50"/>
          <p:cNvSpPr/>
          <p:nvPr/>
        </p:nvSpPr>
        <p:spPr>
          <a:xfrm>
            <a:off x="2850184" y="1965960"/>
            <a:ext cx="20118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4" name="Google Shape;414;p50"/>
          <p:cNvSpPr/>
          <p:nvPr/>
        </p:nvSpPr>
        <p:spPr>
          <a:xfrm>
            <a:off x="3581704" y="2240279"/>
            <a:ext cx="548700" cy="548700"/>
          </a:xfrm>
          <a:prstGeom prst="ellipse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5" name="Google Shape;415;p50"/>
          <p:cNvSpPr txBox="1"/>
          <p:nvPr/>
        </p:nvSpPr>
        <p:spPr>
          <a:xfrm>
            <a:off x="2923336" y="2926080"/>
            <a:ext cx="18654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B378"/>
                </a:solidFill>
                <a:latin typeface="DM Sans"/>
                <a:ea typeface="DM Sans"/>
                <a:cs typeface="DM Sans"/>
                <a:sym typeface="DM Sans"/>
              </a:rPr>
              <a:t>Metastore admin</a:t>
            </a:r>
            <a:endParaRPr b="1" sz="1300">
              <a:solidFill>
                <a:srgbClr val="00B37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6" name="Google Shape;416;p50"/>
          <p:cNvSpPr txBox="1"/>
          <p:nvPr/>
        </p:nvSpPr>
        <p:spPr>
          <a:xfrm>
            <a:off x="3033064" y="3474720"/>
            <a:ext cx="1645800" cy="1737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Central governance: authors shared policy functions and owns the AI securables; delegates access via grants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7" name="Google Shape;417;p50"/>
          <p:cNvSpPr/>
          <p:nvPr/>
        </p:nvSpPr>
        <p:spPr>
          <a:xfrm>
            <a:off x="5090464" y="1965960"/>
            <a:ext cx="20118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8" name="Google Shape;418;p50"/>
          <p:cNvSpPr/>
          <p:nvPr/>
        </p:nvSpPr>
        <p:spPr>
          <a:xfrm>
            <a:off x="5821984" y="2240279"/>
            <a:ext cx="548700" cy="548700"/>
          </a:xfrm>
          <a:prstGeom prst="ellipse">
            <a:avLst/>
          </a:prstGeom>
          <a:solidFill>
            <a:srgbClr val="FF3620"/>
          </a:solidFill>
          <a:ln cap="flat" cmpd="sng" w="3175">
            <a:solidFill>
              <a:srgbClr val="FF3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9" name="Google Shape;419;p50"/>
          <p:cNvSpPr txBox="1"/>
          <p:nvPr/>
        </p:nvSpPr>
        <p:spPr>
          <a:xfrm>
            <a:off x="5163616" y="2926080"/>
            <a:ext cx="18654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3620"/>
                </a:solidFill>
                <a:latin typeface="DM Sans"/>
                <a:ea typeface="DM Sans"/>
                <a:cs typeface="DM Sans"/>
                <a:sym typeface="DM Sans"/>
              </a:rPr>
              <a:t>Workspace admin</a:t>
            </a:r>
            <a:endParaRPr b="1" sz="1300">
              <a:solidFill>
                <a:srgbClr val="FF36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5273344" y="3474720"/>
            <a:ext cx="1645800" cy="1737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Configures the endpoint + AI Gateway config and grants CAN_QUERY, via CAN_MANAGE on the endpoint (admin or its owner)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1" name="Google Shape;421;p50"/>
          <p:cNvSpPr/>
          <p:nvPr/>
        </p:nvSpPr>
        <p:spPr>
          <a:xfrm>
            <a:off x="7330744" y="1965960"/>
            <a:ext cx="20118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2" name="Google Shape;422;p50"/>
          <p:cNvSpPr/>
          <p:nvPr/>
        </p:nvSpPr>
        <p:spPr>
          <a:xfrm>
            <a:off x="8062264" y="2240279"/>
            <a:ext cx="548700" cy="548700"/>
          </a:xfrm>
          <a:prstGeom prst="ellipse">
            <a:avLst/>
          </a:prstGeom>
          <a:solidFill>
            <a:srgbClr val="FFAB00"/>
          </a:solidFill>
          <a:ln cap="flat" cmpd="sng" w="3175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1" sz="19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3" name="Google Shape;423;p50"/>
          <p:cNvSpPr txBox="1"/>
          <p:nvPr/>
        </p:nvSpPr>
        <p:spPr>
          <a:xfrm>
            <a:off x="7403896" y="2926080"/>
            <a:ext cx="18654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AB00"/>
                </a:solidFill>
                <a:latin typeface="DM Sans"/>
                <a:ea typeface="DM Sans"/>
                <a:cs typeface="DM Sans"/>
                <a:sym typeface="DM Sans"/>
              </a:rPr>
              <a:t>Data owner</a:t>
            </a:r>
            <a:endParaRPr b="1" sz="1300">
              <a:solidFill>
                <a:srgbClr val="FFAB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4" name="Google Shape;424;p50"/>
          <p:cNvSpPr txBox="1"/>
          <p:nvPr/>
        </p:nvSpPr>
        <p:spPr>
          <a:xfrm>
            <a:off x="7513624" y="3474720"/>
            <a:ext cx="1645800" cy="1737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Creates and manages the model service in their catalog; applies policies and grants EXECUTE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50"/>
          <p:cNvSpPr/>
          <p:nvPr/>
        </p:nvSpPr>
        <p:spPr>
          <a:xfrm>
            <a:off x="9571024" y="1965960"/>
            <a:ext cx="20118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6" name="Google Shape;426;p50"/>
          <p:cNvSpPr/>
          <p:nvPr/>
        </p:nvSpPr>
        <p:spPr>
          <a:xfrm>
            <a:off x="10302544" y="2240279"/>
            <a:ext cx="548700" cy="548700"/>
          </a:xfrm>
          <a:prstGeom prst="ellipse">
            <a:avLst/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7" name="Google Shape;427;p50"/>
          <p:cNvSpPr txBox="1"/>
          <p:nvPr/>
        </p:nvSpPr>
        <p:spPr>
          <a:xfrm>
            <a:off x="9644176" y="2926080"/>
            <a:ext cx="1865400" cy="5028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28793"/>
                </a:solidFill>
                <a:latin typeface="DM Sans"/>
                <a:ea typeface="DM Sans"/>
                <a:cs typeface="DM Sans"/>
                <a:sym typeface="DM Sans"/>
              </a:rPr>
              <a:t>App team</a:t>
            </a:r>
            <a:endParaRPr b="1" sz="1300">
              <a:solidFill>
                <a:srgbClr val="62879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50"/>
          <p:cNvSpPr txBox="1"/>
          <p:nvPr/>
        </p:nvSpPr>
        <p:spPr>
          <a:xfrm>
            <a:off x="9753904" y="3474720"/>
            <a:ext cx="1645800" cy="17373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Calls the governed endpoint or model service; holds no provider keys or base-model PATs</a:t>
            </a:r>
            <a:endParaRPr sz="10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1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Permissions, Defaults, and Delegation</a:t>
            </a:r>
            <a:endParaRPr/>
          </a:p>
        </p:txBody>
      </p:sp>
      <p:graphicFrame>
        <p:nvGraphicFramePr>
          <p:cNvPr id="435" name="Google Shape;435;p51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{773429D0-432C-4C25-A34E-7CA050955F23}</a:tableStyleId>
              </a:tblPr>
              <a:tblGrid>
                <a:gridCol w="2788900"/>
                <a:gridCol w="3703300"/>
                <a:gridCol w="2377425"/>
                <a:gridCol w="2240275"/>
              </a:tblGrid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Permission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What it controls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Default holder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/ revoke?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Enable UAG beta capabilities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Turns on service policies and guardrails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 admin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 setting (Previews); admins only</a:t>
                      </a:r>
                      <a:endParaRPr b="1"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 budgets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Set account-level spend caps + actions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 / billing admin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 setting; not a UC grant</a:t>
                      </a:r>
                      <a:endParaRPr b="1"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Ownership (catalog / schema / service)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Full control, incl. managing grants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Metastore admin + object owner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Reassignable by owner / metastore admin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SERVICE (catalog / schema)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Register model / provider / MCP / agent services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Catalog / schema owner, metastore admin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/ REVOKE (owner or metastore admin)</a:t>
                      </a:r>
                      <a:endParaRPr b="1"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 (model service)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Config, rate limits, access; binds service policies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Service owner, metastore admin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/ REVOKE</a:t>
                      </a:r>
                      <a:endParaRPr b="1"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Service policies (shared)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PII (block or redact), unsafe content, jailbreak -- per interaction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 on the service; central team authors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Attached per service (UI); ABAC binding is roadmap</a:t>
                      </a:r>
                      <a:endParaRPr b="1"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EXECUTE (+ USE CATALOG / SCHEMA)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Invoke the model service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Service owner (grants consumers)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/ REVOKE</a:t>
                      </a:r>
                      <a:endParaRPr b="1"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CAN_MANAGE / CAN_QUERY (serving endpoint)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Configure vs. call the endpoint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Endpoint creator, workspace admin</a:t>
                      </a:r>
                      <a:endParaRPr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/ revoke via endpoint ACL</a:t>
                      </a:r>
                      <a:endParaRPr b="1"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6" name="Google Shape;436;p51"/>
          <p:cNvSpPr txBox="1"/>
          <p:nvPr/>
        </p:nvSpPr>
        <p:spPr>
          <a:xfrm>
            <a:off x="548640" y="5600000"/>
            <a:ext cx="11109900" cy="640200"/>
          </a:xfrm>
          <a:prstGeom prst="rect">
            <a:avLst/>
          </a:prstGeom>
          <a:solidFill>
            <a:srgbClr val="F1F1F1"/>
          </a:solidFill>
          <a:ln cap="flat" cmpd="sng" w="31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Nearly all operational permissions are grantable and revocable via Unity Catalog GRANT / REVOKE and serving-endpoint ACLs. Service policies attach per service today (org-wide ABAC binding is roadmap). Account-level settings (feature enablement, metastore, identity) stay with account admins; budgets are GA (account-admin).</a:t>
            </a:r>
            <a:endParaRPr sz="9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Locking Down Each AI Resource</a:t>
            </a:r>
            <a:endParaRPr/>
          </a:p>
        </p:txBody>
      </p:sp>
      <p:graphicFrame>
        <p:nvGraphicFramePr>
          <p:cNvPr id="443" name="Google Shape;443;p52"/>
          <p:cNvGraphicFramePr/>
          <p:nvPr/>
        </p:nvGraphicFramePr>
        <p:xfrm>
          <a:off x="548640" y="13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{773429D0-432C-4C25-A34E-7CA050955F23}</a:tableStyleId>
              </a:tblPr>
              <a:tblGrid>
                <a:gridCol w="2651750"/>
                <a:gridCol w="4160500"/>
                <a:gridCol w="4297675"/>
              </a:tblGrid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resource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Prevent create / manage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Prevent use (invoke)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Serving endpoint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Withhold CAN_MANAGE; restrict endpoint creation via workspace settings</a:t>
                      </a:r>
                      <a:endParaRPr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FF362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Revoke CAN_QUERY (or set the rate limit to 0 to hard-block)</a:t>
                      </a:r>
                      <a:endParaRPr sz="900">
                        <a:solidFill>
                          <a:srgbClr val="FF362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UC model service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 not grant CREATE SERVICE on the catalog/schema (MANAGE to administer)</a:t>
                      </a:r>
                      <a:endParaRPr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FF362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Withhold or REVOKE EXECUTE (and USE CATALOG / USE SCHEMA)</a:t>
                      </a:r>
                      <a:endParaRPr sz="900">
                        <a:solidFill>
                          <a:srgbClr val="FF362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system.ai foundation models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System-provided -- managing needs metastore admin / MANAGE on system.ai</a:t>
                      </a:r>
                      <a:endParaRPr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FF362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Remove account-users EXECUTE + USE SCHEMA on system.ai, or REVOKE EXECUTE on a specific model</a:t>
                      </a:r>
                      <a:endParaRPr sz="900">
                        <a:solidFill>
                          <a:srgbClr val="FF362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provider service (external)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 not grant CREATE SERVICE / CREATE CONNECTION</a:t>
                      </a:r>
                      <a:endParaRPr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FF362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Revoke the owner's EXECUTE -- blocks every model service routing to it (definer's privileges)</a:t>
                      </a:r>
                      <a:endParaRPr sz="900">
                        <a:solidFill>
                          <a:srgbClr val="FF362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External provider (direct API)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a UC object -- front it with a Model Provider Service (BYOK) so the provider key stays central and callers use the gateway</a:t>
                      </a:r>
                      <a:endParaRPr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FF362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Block at the network layer: Serverless Egress Gateway (SEG) blocks whole providers. (Enforce UAG blocks new external endpoints; existing stay queryable.)</a:t>
                      </a:r>
                      <a:endParaRPr sz="900">
                        <a:solidFill>
                          <a:srgbClr val="FF362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MCP service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62879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 not grant CREATE SERVICE on the catalog/schema</a:t>
                      </a:r>
                      <a:endParaRPr sz="900">
                        <a:solidFill>
                          <a:srgbClr val="628793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FF362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Withhold EXECUTE (and USE CATALOG / USE SCHEMA), or set rate limits to 0</a:t>
                      </a:r>
                      <a:endParaRPr sz="900">
                        <a:solidFill>
                          <a:srgbClr val="FF3620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4" name="Google Shape;444;p52"/>
          <p:cNvSpPr txBox="1"/>
          <p:nvPr/>
        </p:nvSpPr>
        <p:spPr>
          <a:xfrm>
            <a:off x="548640" y="5916000"/>
            <a:ext cx="11109900" cy="457200"/>
          </a:xfrm>
          <a:prstGeom prst="rect">
            <a:avLst/>
          </a:prstGeom>
          <a:solidFill>
            <a:srgbClr val="F1F1F1"/>
          </a:solidFill>
          <a:ln cap="flat" cmpd="sng" w="31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Two levers per resource: withhold the MANAGE-side privilege (CAN_MANAGE / CREATE SERVICE) to stop creating or configuring it, and </a:t>
            </a:r>
            <a:r>
              <a:rPr lang="en-US" sz="9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withhold or REVOKE the USE-side privilege (CAN_QUERY / EXECUTE)</a:t>
            </a:r>
            <a:r>
              <a:rPr lang="en-US" sz="90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 to stop invoking it. All are grant/revoke - reversible at any time.</a:t>
            </a:r>
            <a:endParaRPr sz="90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3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CAN_QUERY vs EXECUTE</a:t>
            </a:r>
            <a:endParaRPr/>
          </a:p>
        </p:txBody>
      </p:sp>
      <p:graphicFrame>
        <p:nvGraphicFramePr>
          <p:cNvPr id="451" name="Google Shape;451;p53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{773429D0-432C-4C25-A34E-7CA050955F23}</a:tableStyleId>
              </a:tblPr>
              <a:tblGrid>
                <a:gridCol w="2377425"/>
                <a:gridCol w="4343400"/>
                <a:gridCol w="4389100"/>
              </a:tblGrid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Dimension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CAN_QUERY (serving endpoint)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EXECUTE (UC model service)</a:t>
                      </a:r>
                      <a:endParaRPr b="1" sz="1000">
                        <a:solidFill>
                          <a:srgbClr val="FFFFFF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1B303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Permission system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Workspace object ACL (VIEW / QUERY / MANAGE)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Unity Catalog privilege (RBAC + ABAC)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Scope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Workspace -- the endpoint is a workspace object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Metastore / catalog -- reusable across workspaces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Required to call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CAN_QUERY on the endpoint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EXECUTE on the service + USE CATALOG + USE SCHEMA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expressiveness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 / group / SP; three fixed levels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GRANT / REVOKE, DENY, tag-based ABAC, ownership inheritance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Denied shape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 403 -- visible but not callable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 404 -- the securable is hidden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Whose privileges run the model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endpoint's configured credentials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Definer's: owner's grants (caller needs EXECUTE only on the service)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303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Governance integration</a:t>
                      </a:r>
                      <a:endParaRPr b="1" sz="900">
                        <a:solidFill>
                          <a:srgbClr val="1B3037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B516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Workspace-local ACL</a:t>
                      </a:r>
                      <a:endParaRPr sz="900">
                        <a:solidFill>
                          <a:srgbClr val="1B516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00B37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Same discovery, lineage, and audit as data</a:t>
                      </a:r>
                      <a:endParaRPr sz="900">
                        <a:solidFill>
                          <a:srgbClr val="00B378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"/>
          <p:cNvSpPr txBox="1"/>
          <p:nvPr>
            <p:ph type="title"/>
          </p:nvPr>
        </p:nvSpPr>
        <p:spPr>
          <a:xfrm>
            <a:off x="460980" y="2766218"/>
            <a:ext cx="10892700" cy="13257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It Live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5"/>
          <p:cNvSpPr txBox="1"/>
          <p:nvPr>
            <p:ph type="title"/>
          </p:nvPr>
        </p:nvSpPr>
        <p:spPr>
          <a:xfrm>
            <a:off x="460979" y="365126"/>
            <a:ext cx="11259900" cy="9921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Explore the Demo</a:t>
            </a:r>
            <a:endParaRPr/>
          </a:p>
        </p:txBody>
      </p:sp>
      <p:sp>
        <p:nvSpPr>
          <p:cNvPr id="464" name="Google Shape;464;p55"/>
          <p:cNvSpPr/>
          <p:nvPr/>
        </p:nvSpPr>
        <p:spPr>
          <a:xfrm>
            <a:off x="609904" y="1965960"/>
            <a:ext cx="3383400" cy="324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5" name="Google Shape;465;p55"/>
          <p:cNvSpPr/>
          <p:nvPr/>
        </p:nvSpPr>
        <p:spPr>
          <a:xfrm>
            <a:off x="2018080" y="2258568"/>
            <a:ext cx="567000" cy="567000"/>
          </a:xfrm>
          <a:prstGeom prst="ellipse">
            <a:avLst/>
          </a:prstGeom>
          <a:solidFill>
            <a:srgbClr val="1B5161"/>
          </a:solidFill>
          <a:ln cap="flat" cmpd="sng" w="3175">
            <a:solidFill>
              <a:srgbClr val="1B51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6" name="Google Shape;466;p55"/>
          <p:cNvSpPr txBox="1"/>
          <p:nvPr/>
        </p:nvSpPr>
        <p:spPr>
          <a:xfrm>
            <a:off x="747064" y="2990088"/>
            <a:ext cx="31089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DM Sans"/>
                <a:ea typeface="DM Sans"/>
                <a:cs typeface="DM Sans"/>
                <a:sym typeface="DM Sans"/>
              </a:rPr>
              <a:t>Notebooks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7" name="Google Shape;467;p55"/>
          <p:cNvSpPr txBox="1"/>
          <p:nvPr/>
        </p:nvSpPr>
        <p:spPr>
          <a:xfrm>
            <a:off x="838504" y="3502152"/>
            <a:ext cx="29262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01 to 05 demonstrate each control surface</a:t>
            </a: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, hands-on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8" name="Google Shape;468;p55"/>
          <p:cNvSpPr/>
          <p:nvPr/>
        </p:nvSpPr>
        <p:spPr>
          <a:xfrm>
            <a:off x="4404664" y="1965960"/>
            <a:ext cx="3383400" cy="324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9" name="Google Shape;469;p55"/>
          <p:cNvSpPr/>
          <p:nvPr/>
        </p:nvSpPr>
        <p:spPr>
          <a:xfrm>
            <a:off x="5812840" y="2258568"/>
            <a:ext cx="567000" cy="567000"/>
          </a:xfrm>
          <a:prstGeom prst="ellipse">
            <a:avLst/>
          </a:prstGeom>
          <a:solidFill>
            <a:srgbClr val="00B378"/>
          </a:solidFill>
          <a:ln cap="flat" cmpd="sng" w="3175">
            <a:solidFill>
              <a:srgbClr val="00B3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p55"/>
          <p:cNvSpPr txBox="1"/>
          <p:nvPr/>
        </p:nvSpPr>
        <p:spPr>
          <a:xfrm>
            <a:off x="4541824" y="2990088"/>
            <a:ext cx="31089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B378"/>
                </a:solidFill>
                <a:latin typeface="DM Sans"/>
                <a:ea typeface="DM Sans"/>
                <a:cs typeface="DM Sans"/>
                <a:sym typeface="DM Sans"/>
              </a:rPr>
              <a:t>Streamlit App</a:t>
            </a:r>
            <a:endParaRPr b="1" sz="1500">
              <a:solidFill>
                <a:srgbClr val="00B37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1" name="Google Shape;471;p55"/>
          <p:cNvSpPr txBox="1"/>
          <p:nvPr/>
        </p:nvSpPr>
        <p:spPr>
          <a:xfrm>
            <a:off x="4633264" y="3502152"/>
            <a:ext cx="29262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Interactive chat, guardrail blocks, and a live rate-limit trip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2" name="Google Shape;472;p55"/>
          <p:cNvSpPr/>
          <p:nvPr/>
        </p:nvSpPr>
        <p:spPr>
          <a:xfrm>
            <a:off x="8199424" y="1965960"/>
            <a:ext cx="3383400" cy="324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3" name="Google Shape;473;p55"/>
          <p:cNvSpPr/>
          <p:nvPr/>
        </p:nvSpPr>
        <p:spPr>
          <a:xfrm>
            <a:off x="9607600" y="2258568"/>
            <a:ext cx="567000" cy="567000"/>
          </a:xfrm>
          <a:prstGeom prst="ellipse">
            <a:avLst/>
          </a:prstGeom>
          <a:solidFill>
            <a:srgbClr val="628793"/>
          </a:solidFill>
          <a:ln cap="flat" cmpd="sng" w="3175">
            <a:solidFill>
              <a:srgbClr val="6287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4" name="Google Shape;474;p55"/>
          <p:cNvSpPr txBox="1"/>
          <p:nvPr/>
        </p:nvSpPr>
        <p:spPr>
          <a:xfrm>
            <a:off x="8336584" y="2990088"/>
            <a:ext cx="31089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28793"/>
                </a:solidFill>
                <a:latin typeface="DM Sans"/>
                <a:ea typeface="DM Sans"/>
                <a:cs typeface="DM Sans"/>
                <a:sym typeface="DM Sans"/>
              </a:rPr>
              <a:t>AI/BI Dashboard</a:t>
            </a:r>
            <a:endParaRPr b="1" sz="1500">
              <a:solidFill>
                <a:srgbClr val="62879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5" name="Google Shape;475;p55"/>
          <p:cNvSpPr txBox="1"/>
          <p:nvPr/>
        </p:nvSpPr>
        <p:spPr>
          <a:xfrm>
            <a:off x="8428024" y="3502152"/>
            <a:ext cx="2926200" cy="15546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3037"/>
                </a:solidFill>
                <a:latin typeface="DM Sans"/>
                <a:ea typeface="DM Sans"/>
                <a:cs typeface="DM Sans"/>
                <a:sym typeface="DM Sans"/>
              </a:rPr>
              <a:t>The persistent governance and cost story</a:t>
            </a:r>
            <a:endParaRPr sz="1150">
              <a:solidFill>
                <a:srgbClr val="1B30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6" name="Google Shape;476;p55"/>
          <p:cNvSpPr txBox="1"/>
          <p:nvPr/>
        </p:nvSpPr>
        <p:spPr>
          <a:xfrm>
            <a:off x="914400" y="5440679"/>
            <a:ext cx="10360200" cy="457200"/>
          </a:xfrm>
          <a:prstGeom prst="rect">
            <a:avLst/>
          </a:prstGeom>
          <a:solidFill>
            <a:srgbClr val="FFFFFF"/>
          </a:solidFill>
          <a:ln cap="flat" cmpd="sng" w="3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28793"/>
                </a:solidFill>
                <a:latin typeface="DM Sans"/>
                <a:ea typeface="DM Sans"/>
                <a:cs typeface="DM Sans"/>
                <a:sym typeface="DM Sans"/>
              </a:rPr>
              <a:t>The chat panel and this dashboard read the endpoint inference table; the model-service tab (and notebooks 01-04) are the strategic path -- their policy blocks show live, not in that table.</a:t>
            </a:r>
            <a:endParaRPr b="1" sz="1200">
              <a:solidFill>
                <a:srgbClr val="62879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Databricks 2020">
      <a:dk1>
        <a:srgbClr val="1B3038"/>
      </a:dk1>
      <a:lt1>
        <a:srgbClr val="FFFFFF"/>
      </a:lt1>
      <a:dk2>
        <a:srgbClr val="1B5161"/>
      </a:dk2>
      <a:lt2>
        <a:srgbClr val="E7E6E6"/>
      </a:lt2>
      <a:accent1>
        <a:srgbClr val="1B3038"/>
      </a:accent1>
      <a:accent2>
        <a:srgbClr val="FF3620"/>
      </a:accent2>
      <a:accent3>
        <a:srgbClr val="1B5161"/>
      </a:accent3>
      <a:accent4>
        <a:srgbClr val="FFAB00"/>
      </a:accent4>
      <a:accent5>
        <a:srgbClr val="618793"/>
      </a:accent5>
      <a:accent6>
        <a:srgbClr val="A0ACBE"/>
      </a:accent6>
      <a:hlink>
        <a:srgbClr val="98102A"/>
      </a:hlink>
      <a:folHlink>
        <a:srgbClr val="7D531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